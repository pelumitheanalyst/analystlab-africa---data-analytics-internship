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60" r:id="rId5"/>
    <p:sldId id="259" r:id="rId6"/>
    <p:sldId id="262" r:id="rId7"/>
    <p:sldId id="261"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A31364A-E2AE-4341-B1C2-EB9AB24ED309}">
          <p14:sldIdLst>
            <p14:sldId id="256"/>
            <p14:sldId id="257"/>
            <p14:sldId id="258"/>
            <p14:sldId id="260"/>
            <p14:sldId id="259"/>
            <p14:sldId id="262"/>
            <p14:sldId id="261"/>
            <p14:sldId id="263"/>
            <p14:sldId id="264"/>
            <p14:sldId id="26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autoAdjust="0"/>
  </p:normalViewPr>
  <p:slideViewPr>
    <p:cSldViewPr snapToGrid="0">
      <p:cViewPr varScale="1">
        <p:scale>
          <a:sx n="84" d="100"/>
          <a:sy n="84" d="100"/>
        </p:scale>
        <p:origin x="658" y="7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2189073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1341346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530116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97135D-AC8A-4EF8-86B9-5B966471944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3206658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97135D-AC8A-4EF8-86B9-5B966471944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2988333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97135D-AC8A-4EF8-86B9-5B966471944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2676619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97135D-AC8A-4EF8-86B9-5B966471944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300978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97135D-AC8A-4EF8-86B9-5B966471944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3110260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97135D-AC8A-4EF8-86B9-5B966471944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3112540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1323111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5854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16575137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23484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7860927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1351434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7135D-AC8A-4EF8-86B9-5B966471944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FCCA36-E93E-4421-A37D-C71D1249D616}" type="slidenum">
              <a:rPr lang="en-US" smtClean="0"/>
              <a:t>‹#›</a:t>
            </a:fld>
            <a:endParaRPr lang="en-US"/>
          </a:p>
        </p:txBody>
      </p:sp>
    </p:spTree>
    <p:extLst>
      <p:ext uri="{BB962C8B-B14F-4D97-AF65-F5344CB8AC3E}">
        <p14:creationId xmlns:p14="http://schemas.microsoft.com/office/powerpoint/2010/main" val="2280700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97135D-AC8A-4EF8-86B9-5B9664719444}" type="datetimeFigureOut">
              <a:rPr lang="en-US" smtClean="0"/>
              <a:t>6/8/2026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8FCCA36-E93E-4421-A37D-C71D1249D616}" type="slidenum">
              <a:rPr lang="en-US" smtClean="0"/>
              <a:t>‹#›</a:t>
            </a:fld>
            <a:endParaRPr lang="en-US"/>
          </a:p>
        </p:txBody>
      </p:sp>
    </p:spTree>
    <p:extLst>
      <p:ext uri="{BB962C8B-B14F-4D97-AF65-F5344CB8AC3E}">
        <p14:creationId xmlns:p14="http://schemas.microsoft.com/office/powerpoint/2010/main" val="115309429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AB6AB-53DA-6CDC-9638-D3E10A2A5A1B}"/>
              </a:ext>
            </a:extLst>
          </p:cNvPr>
          <p:cNvSpPr>
            <a:spLocks noGrp="1"/>
          </p:cNvSpPr>
          <p:nvPr>
            <p:ph type="ctrTitle"/>
          </p:nvPr>
        </p:nvSpPr>
        <p:spPr>
          <a:xfrm>
            <a:off x="1507067" y="1407838"/>
            <a:ext cx="7766936" cy="1646302"/>
          </a:xfrm>
        </p:spPr>
        <p:txBody>
          <a:bodyPr/>
          <a:lstStyle/>
          <a:p>
            <a:pPr algn="l"/>
            <a:r>
              <a:rPr lang="en-US" dirty="0">
                <a:solidFill>
                  <a:schemeClr val="tx1"/>
                </a:solidFill>
              </a:rPr>
              <a:t>Bank Marketing Campaign Analysis</a:t>
            </a:r>
          </a:p>
        </p:txBody>
      </p:sp>
      <p:sp>
        <p:nvSpPr>
          <p:cNvPr id="3" name="Subtitle 2">
            <a:extLst>
              <a:ext uri="{FF2B5EF4-FFF2-40B4-BE49-F238E27FC236}">
                <a16:creationId xmlns:a16="http://schemas.microsoft.com/office/drawing/2014/main" id="{77D3BC51-48BD-46D3-1718-12AAF282AE11}"/>
              </a:ext>
            </a:extLst>
          </p:cNvPr>
          <p:cNvSpPr>
            <a:spLocks noGrp="1"/>
          </p:cNvSpPr>
          <p:nvPr>
            <p:ph type="subTitle" idx="1"/>
          </p:nvPr>
        </p:nvSpPr>
        <p:spPr>
          <a:xfrm>
            <a:off x="1507067" y="3200441"/>
            <a:ext cx="7766936" cy="2633431"/>
          </a:xfrm>
        </p:spPr>
        <p:txBody>
          <a:bodyPr>
            <a:normAutofit lnSpcReduction="10000"/>
          </a:bodyPr>
          <a:lstStyle/>
          <a:p>
            <a:pPr algn="l"/>
            <a:r>
              <a:rPr lang="en-US" dirty="0">
                <a:solidFill>
                  <a:schemeClr val="tx1"/>
                </a:solidFill>
              </a:rPr>
              <a:t>Identifying the Key Drivers of Term Deposit Subscriptions and Opportunities to Improve Future Marketing Campaigns</a:t>
            </a:r>
          </a:p>
          <a:p>
            <a:pPr algn="l"/>
            <a:endParaRPr lang="en-US" dirty="0"/>
          </a:p>
          <a:p>
            <a:pPr algn="l"/>
            <a:r>
              <a:rPr lang="en-US" b="1" dirty="0">
                <a:solidFill>
                  <a:schemeClr val="tx1"/>
                </a:solidFill>
              </a:rPr>
              <a:t>Presented By</a:t>
            </a:r>
          </a:p>
          <a:p>
            <a:pPr algn="l"/>
            <a:r>
              <a:rPr lang="en-US" dirty="0">
                <a:solidFill>
                  <a:schemeClr val="tx1"/>
                </a:solidFill>
              </a:rPr>
              <a:t>Aderogba Oluwapelumi Shadrack</a:t>
            </a:r>
          </a:p>
          <a:p>
            <a:pPr algn="l"/>
            <a:r>
              <a:rPr lang="en-US" dirty="0" err="1">
                <a:solidFill>
                  <a:schemeClr val="tx1"/>
                </a:solidFill>
              </a:rPr>
              <a:t>AnalystLab</a:t>
            </a:r>
            <a:r>
              <a:rPr lang="en-US" dirty="0">
                <a:solidFill>
                  <a:schemeClr val="tx1"/>
                </a:solidFill>
              </a:rPr>
              <a:t> Africa Internship</a:t>
            </a:r>
          </a:p>
          <a:p>
            <a:pPr algn="l"/>
            <a:r>
              <a:rPr lang="en-US" dirty="0">
                <a:solidFill>
                  <a:schemeClr val="tx1"/>
                </a:solidFill>
              </a:rPr>
              <a:t>7</a:t>
            </a:r>
            <a:r>
              <a:rPr lang="en-US" baseline="30000" dirty="0">
                <a:solidFill>
                  <a:schemeClr val="tx1"/>
                </a:solidFill>
              </a:rPr>
              <a:t>th</a:t>
            </a:r>
            <a:r>
              <a:rPr lang="en-US" dirty="0">
                <a:solidFill>
                  <a:schemeClr val="tx1"/>
                </a:solidFill>
              </a:rPr>
              <a:t> June, 2026</a:t>
            </a:r>
          </a:p>
          <a:p>
            <a:pPr algn="l"/>
            <a:endParaRPr lang="en-US" dirty="0"/>
          </a:p>
          <a:p>
            <a:endParaRPr lang="en-US" dirty="0"/>
          </a:p>
        </p:txBody>
      </p:sp>
    </p:spTree>
    <p:extLst>
      <p:ext uri="{BB962C8B-B14F-4D97-AF65-F5344CB8AC3E}">
        <p14:creationId xmlns:p14="http://schemas.microsoft.com/office/powerpoint/2010/main" val="1840044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39E0C-AA80-EE94-9D47-648B78228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B2FFE-771A-F089-DB1D-51422BA0D001}"/>
              </a:ext>
            </a:extLst>
          </p:cNvPr>
          <p:cNvSpPr>
            <a:spLocks noGrp="1"/>
          </p:cNvSpPr>
          <p:nvPr>
            <p:ph type="title"/>
          </p:nvPr>
        </p:nvSpPr>
        <p:spPr/>
        <p:txBody>
          <a:bodyPr/>
          <a:lstStyle/>
          <a:p>
            <a:pPr algn="l"/>
            <a:r>
              <a:rPr lang="en-US" dirty="0">
                <a:solidFill>
                  <a:schemeClr val="tx1"/>
                </a:solidFill>
              </a:rPr>
              <a:t>Business Problem</a:t>
            </a:r>
          </a:p>
        </p:txBody>
      </p:sp>
      <p:sp>
        <p:nvSpPr>
          <p:cNvPr id="3" name="Subtitle 2">
            <a:extLst>
              <a:ext uri="{FF2B5EF4-FFF2-40B4-BE49-F238E27FC236}">
                <a16:creationId xmlns:a16="http://schemas.microsoft.com/office/drawing/2014/main" id="{3E625837-872E-3CEE-DAA0-8C67F4032FF7}"/>
              </a:ext>
            </a:extLst>
          </p:cNvPr>
          <p:cNvSpPr>
            <a:spLocks noGrp="1"/>
          </p:cNvSpPr>
          <p:nvPr>
            <p:ph idx="1"/>
          </p:nvPr>
        </p:nvSpPr>
        <p:spPr/>
        <p:txBody>
          <a:bodyPr>
            <a:normAutofit/>
          </a:bodyPr>
          <a:lstStyle/>
          <a:p>
            <a:pPr marL="0" indent="0" algn="l">
              <a:buNone/>
            </a:pPr>
            <a:r>
              <a:rPr lang="en-US" dirty="0">
                <a:solidFill>
                  <a:schemeClr val="tx1"/>
                </a:solidFill>
              </a:rPr>
              <a:t>Banks invest significant resources in marketing campaigns to promote term deposit products, yet not all customers respond positively to these efforts.</a:t>
            </a:r>
          </a:p>
          <a:p>
            <a:pPr algn="l"/>
            <a:endParaRPr lang="en-US" dirty="0">
              <a:solidFill>
                <a:schemeClr val="tx1"/>
              </a:solidFill>
            </a:endParaRPr>
          </a:p>
          <a:p>
            <a:pPr marL="0" indent="0" algn="l">
              <a:buNone/>
            </a:pPr>
            <a:r>
              <a:rPr lang="en-US" dirty="0">
                <a:solidFill>
                  <a:schemeClr val="tx1"/>
                </a:solidFill>
              </a:rPr>
              <a:t>This analysis seeks to answer:</a:t>
            </a:r>
          </a:p>
          <a:p>
            <a:pPr marL="0" indent="0" algn="l">
              <a:buNone/>
            </a:pPr>
            <a:r>
              <a:rPr lang="en-US" dirty="0">
                <a:solidFill>
                  <a:schemeClr val="tx1"/>
                </a:solidFill>
              </a:rPr>
              <a:t>Why do some customers subscribe while others do not? </a:t>
            </a:r>
          </a:p>
          <a:p>
            <a:pPr marL="0" indent="0" algn="l">
              <a:buNone/>
            </a:pPr>
            <a:r>
              <a:rPr lang="en-US" dirty="0">
                <a:solidFill>
                  <a:schemeClr val="tx1"/>
                </a:solidFill>
              </a:rPr>
              <a:t>Which customer segments are most likely to convert? </a:t>
            </a:r>
          </a:p>
          <a:p>
            <a:pPr marL="0" indent="0" algn="l">
              <a:buNone/>
            </a:pPr>
            <a:r>
              <a:rPr lang="en-US" dirty="0">
                <a:solidFill>
                  <a:schemeClr val="tx1"/>
                </a:solidFill>
              </a:rPr>
              <a:t>Which campaign strategies drive the highest success rates? </a:t>
            </a:r>
          </a:p>
          <a:p>
            <a:pPr marL="0" indent="0" algn="l">
              <a:buNone/>
            </a:pPr>
            <a:r>
              <a:rPr lang="en-US" dirty="0">
                <a:solidFill>
                  <a:schemeClr val="tx1"/>
                </a:solidFill>
              </a:rPr>
              <a:t>How can future marketing campaigns be improved?</a:t>
            </a:r>
          </a:p>
          <a:p>
            <a:endParaRPr lang="en-US" dirty="0"/>
          </a:p>
        </p:txBody>
      </p:sp>
    </p:spTree>
    <p:extLst>
      <p:ext uri="{BB962C8B-B14F-4D97-AF65-F5344CB8AC3E}">
        <p14:creationId xmlns:p14="http://schemas.microsoft.com/office/powerpoint/2010/main" val="887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4DFF8-AA06-43BF-BDCB-835D7A6CC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41033-4535-5B20-B0CD-5777BFED20AA}"/>
              </a:ext>
            </a:extLst>
          </p:cNvPr>
          <p:cNvSpPr>
            <a:spLocks noGrp="1"/>
          </p:cNvSpPr>
          <p:nvPr>
            <p:ph type="title"/>
          </p:nvPr>
        </p:nvSpPr>
        <p:spPr/>
        <p:txBody>
          <a:bodyPr/>
          <a:lstStyle/>
          <a:p>
            <a:pPr algn="l"/>
            <a:r>
              <a:rPr lang="en-US" dirty="0">
                <a:solidFill>
                  <a:schemeClr val="tx1"/>
                </a:solidFill>
              </a:rPr>
              <a:t>Dataset Overview</a:t>
            </a:r>
          </a:p>
        </p:txBody>
      </p:sp>
      <p:sp>
        <p:nvSpPr>
          <p:cNvPr id="3" name="Subtitle 2">
            <a:extLst>
              <a:ext uri="{FF2B5EF4-FFF2-40B4-BE49-F238E27FC236}">
                <a16:creationId xmlns:a16="http://schemas.microsoft.com/office/drawing/2014/main" id="{7F0595D5-42CB-3315-1951-8F3C06CD786C}"/>
              </a:ext>
            </a:extLst>
          </p:cNvPr>
          <p:cNvSpPr>
            <a:spLocks noGrp="1"/>
          </p:cNvSpPr>
          <p:nvPr>
            <p:ph idx="1"/>
          </p:nvPr>
        </p:nvSpPr>
        <p:spPr>
          <a:xfrm>
            <a:off x="677334" y="1930400"/>
            <a:ext cx="4588933" cy="4757927"/>
          </a:xfrm>
        </p:spPr>
        <p:txBody>
          <a:bodyPr>
            <a:normAutofit fontScale="92500" lnSpcReduction="20000"/>
          </a:bodyPr>
          <a:lstStyle/>
          <a:p>
            <a:pPr marL="0" indent="0" algn="l">
              <a:buNone/>
            </a:pPr>
            <a:r>
              <a:rPr lang="en-US" sz="1600" b="1" dirty="0">
                <a:solidFill>
                  <a:schemeClr val="tx1"/>
                </a:solidFill>
              </a:rPr>
              <a:t>Dataset Size</a:t>
            </a:r>
            <a:endParaRPr lang="en-US" sz="1600" dirty="0">
              <a:solidFill>
                <a:schemeClr val="tx1"/>
              </a:solidFill>
            </a:endParaRPr>
          </a:p>
          <a:p>
            <a:pPr marL="0" indent="0" algn="l">
              <a:buNone/>
            </a:pPr>
            <a:r>
              <a:rPr lang="en-US" sz="1600" dirty="0">
                <a:solidFill>
                  <a:schemeClr val="tx1"/>
                </a:solidFill>
              </a:rPr>
              <a:t>11,162 Customers </a:t>
            </a:r>
          </a:p>
          <a:p>
            <a:pPr marL="0" indent="0" algn="l">
              <a:buNone/>
            </a:pPr>
            <a:r>
              <a:rPr lang="en-US" sz="1600" dirty="0">
                <a:solidFill>
                  <a:schemeClr val="tx1"/>
                </a:solidFill>
              </a:rPr>
              <a:t>16 Variables </a:t>
            </a:r>
          </a:p>
          <a:p>
            <a:pPr algn="l"/>
            <a:endParaRPr lang="en-US" sz="1600" dirty="0">
              <a:solidFill>
                <a:schemeClr val="tx1"/>
              </a:solidFill>
            </a:endParaRPr>
          </a:p>
          <a:p>
            <a:pPr marL="0" indent="0" algn="l">
              <a:buNone/>
            </a:pPr>
            <a:r>
              <a:rPr lang="en-US" sz="1600" dirty="0">
                <a:solidFill>
                  <a:schemeClr val="tx1"/>
                </a:solidFill>
              </a:rPr>
              <a:t>Customer Information:</a:t>
            </a:r>
          </a:p>
          <a:p>
            <a:pPr marL="0" indent="0" algn="l">
              <a:buNone/>
            </a:pPr>
            <a:r>
              <a:rPr lang="en-US" sz="1600" dirty="0">
                <a:solidFill>
                  <a:schemeClr val="tx1"/>
                </a:solidFill>
              </a:rPr>
              <a:t>Age </a:t>
            </a:r>
          </a:p>
          <a:p>
            <a:pPr marL="0" indent="0" algn="l">
              <a:buNone/>
            </a:pPr>
            <a:r>
              <a:rPr lang="en-US" sz="1600" dirty="0">
                <a:solidFill>
                  <a:schemeClr val="tx1"/>
                </a:solidFill>
              </a:rPr>
              <a:t>Job </a:t>
            </a:r>
          </a:p>
          <a:p>
            <a:pPr marL="0" indent="0" algn="l">
              <a:buNone/>
            </a:pPr>
            <a:r>
              <a:rPr lang="en-US" sz="1600" dirty="0">
                <a:solidFill>
                  <a:schemeClr val="tx1"/>
                </a:solidFill>
              </a:rPr>
              <a:t>Marital Status </a:t>
            </a:r>
          </a:p>
          <a:p>
            <a:pPr marL="0" indent="0" algn="l">
              <a:buNone/>
            </a:pPr>
            <a:r>
              <a:rPr lang="en-US" sz="1600" dirty="0">
                <a:solidFill>
                  <a:schemeClr val="tx1"/>
                </a:solidFill>
              </a:rPr>
              <a:t>Education </a:t>
            </a:r>
          </a:p>
          <a:p>
            <a:pPr algn="l"/>
            <a:endParaRPr lang="en-US" sz="1600" dirty="0">
              <a:solidFill>
                <a:schemeClr val="tx1"/>
              </a:solidFill>
            </a:endParaRPr>
          </a:p>
          <a:p>
            <a:pPr marL="0" indent="0" algn="l">
              <a:buNone/>
            </a:pPr>
            <a:r>
              <a:rPr lang="en-US" sz="1600" dirty="0">
                <a:solidFill>
                  <a:schemeClr val="tx1"/>
                </a:solidFill>
              </a:rPr>
              <a:t>Financial Information:</a:t>
            </a:r>
          </a:p>
          <a:p>
            <a:pPr marL="0" indent="0" algn="l">
              <a:buNone/>
            </a:pPr>
            <a:r>
              <a:rPr lang="en-US" sz="1600" dirty="0">
                <a:solidFill>
                  <a:schemeClr val="tx1"/>
                </a:solidFill>
              </a:rPr>
              <a:t>Balance </a:t>
            </a:r>
          </a:p>
          <a:p>
            <a:pPr marL="0" indent="0" algn="l">
              <a:buNone/>
            </a:pPr>
            <a:r>
              <a:rPr lang="en-US" sz="1600" dirty="0">
                <a:solidFill>
                  <a:schemeClr val="tx1"/>
                </a:solidFill>
              </a:rPr>
              <a:t>Housing Loan </a:t>
            </a:r>
          </a:p>
          <a:p>
            <a:pPr marL="0" indent="0" algn="l">
              <a:buNone/>
            </a:pPr>
            <a:r>
              <a:rPr lang="en-US" sz="1600" dirty="0">
                <a:solidFill>
                  <a:schemeClr val="tx1"/>
                </a:solidFill>
              </a:rPr>
              <a:t>Personal Loan </a:t>
            </a:r>
          </a:p>
          <a:p>
            <a:pPr marL="0" indent="0" algn="l">
              <a:buNone/>
            </a:pPr>
            <a:r>
              <a:rPr lang="en-US" sz="1600" dirty="0">
                <a:solidFill>
                  <a:schemeClr val="tx1"/>
                </a:solidFill>
              </a:rPr>
              <a:t>Default Status </a:t>
            </a:r>
          </a:p>
          <a:p>
            <a:pPr algn="l"/>
            <a:endParaRPr lang="en-US" sz="1600" dirty="0">
              <a:solidFill>
                <a:schemeClr val="tx1"/>
              </a:solidFill>
            </a:endParaRPr>
          </a:p>
          <a:p>
            <a:pPr algn="l"/>
            <a:endParaRPr lang="en-US" dirty="0"/>
          </a:p>
        </p:txBody>
      </p:sp>
      <p:sp>
        <p:nvSpPr>
          <p:cNvPr id="4" name="Subtitle 2">
            <a:extLst>
              <a:ext uri="{FF2B5EF4-FFF2-40B4-BE49-F238E27FC236}">
                <a16:creationId xmlns:a16="http://schemas.microsoft.com/office/drawing/2014/main" id="{586D7813-4EC6-20D6-C9DD-B8086DDE29DC}"/>
              </a:ext>
            </a:extLst>
          </p:cNvPr>
          <p:cNvSpPr txBox="1">
            <a:spLocks/>
          </p:cNvSpPr>
          <p:nvPr/>
        </p:nvSpPr>
        <p:spPr>
          <a:xfrm>
            <a:off x="4975668" y="1930400"/>
            <a:ext cx="4588933" cy="510235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en-US" sz="1600" dirty="0">
                <a:solidFill>
                  <a:schemeClr val="tx1"/>
                </a:solidFill>
              </a:rPr>
              <a:t>Campaign Information:</a:t>
            </a:r>
          </a:p>
          <a:p>
            <a:pPr algn="l"/>
            <a:r>
              <a:rPr lang="en-US" sz="1600" dirty="0">
                <a:solidFill>
                  <a:schemeClr val="tx1"/>
                </a:solidFill>
              </a:rPr>
              <a:t>Contact Method </a:t>
            </a:r>
          </a:p>
          <a:p>
            <a:pPr algn="l"/>
            <a:r>
              <a:rPr lang="en-US" sz="1600" dirty="0">
                <a:solidFill>
                  <a:schemeClr val="tx1"/>
                </a:solidFill>
              </a:rPr>
              <a:t>Duration </a:t>
            </a:r>
          </a:p>
          <a:p>
            <a:pPr algn="l"/>
            <a:r>
              <a:rPr lang="en-US" sz="1600" dirty="0">
                <a:solidFill>
                  <a:schemeClr val="tx1"/>
                </a:solidFill>
              </a:rPr>
              <a:t>Campaign Contacts </a:t>
            </a:r>
          </a:p>
          <a:p>
            <a:pPr algn="l"/>
            <a:r>
              <a:rPr lang="en-US" sz="1600" dirty="0">
                <a:solidFill>
                  <a:schemeClr val="tx1"/>
                </a:solidFill>
              </a:rPr>
              <a:t>Previous Contacts </a:t>
            </a:r>
          </a:p>
          <a:p>
            <a:pPr algn="l"/>
            <a:r>
              <a:rPr lang="en-US" sz="1600" dirty="0">
                <a:solidFill>
                  <a:schemeClr val="tx1"/>
                </a:solidFill>
              </a:rPr>
              <a:t>Previous Outcome </a:t>
            </a:r>
          </a:p>
          <a:p>
            <a:pPr algn="l"/>
            <a:endParaRPr lang="en-US" sz="1600" dirty="0">
              <a:solidFill>
                <a:schemeClr val="tx1"/>
              </a:solidFill>
            </a:endParaRPr>
          </a:p>
          <a:p>
            <a:pPr algn="l"/>
            <a:r>
              <a:rPr lang="en-US" sz="1600" dirty="0">
                <a:solidFill>
                  <a:schemeClr val="tx1"/>
                </a:solidFill>
              </a:rPr>
              <a:t>Target Variable:</a:t>
            </a:r>
          </a:p>
          <a:p>
            <a:pPr algn="l"/>
            <a:r>
              <a:rPr lang="en-US" sz="1600" dirty="0">
                <a:solidFill>
                  <a:schemeClr val="tx1"/>
                </a:solidFill>
              </a:rPr>
              <a:t>Deposit Subscription</a:t>
            </a:r>
          </a:p>
        </p:txBody>
      </p:sp>
    </p:spTree>
    <p:extLst>
      <p:ext uri="{BB962C8B-B14F-4D97-AF65-F5344CB8AC3E}">
        <p14:creationId xmlns:p14="http://schemas.microsoft.com/office/powerpoint/2010/main" val="1366326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22855-2C68-223A-3962-770EAB2C4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AEA71-6599-0006-B79D-972957B75D16}"/>
              </a:ext>
            </a:extLst>
          </p:cNvPr>
          <p:cNvSpPr>
            <a:spLocks noGrp="1"/>
          </p:cNvSpPr>
          <p:nvPr>
            <p:ph type="title"/>
          </p:nvPr>
        </p:nvSpPr>
        <p:spPr/>
        <p:txBody>
          <a:bodyPr/>
          <a:lstStyle/>
          <a:p>
            <a:pPr algn="l"/>
            <a:r>
              <a:rPr lang="en-US" sz="4000" dirty="0">
                <a:solidFill>
                  <a:schemeClr val="tx1"/>
                </a:solidFill>
              </a:rPr>
              <a:t>Customer &amp; Financial Profile Insights</a:t>
            </a:r>
          </a:p>
        </p:txBody>
      </p:sp>
      <p:sp>
        <p:nvSpPr>
          <p:cNvPr id="4" name="Content Placeholder 3">
            <a:extLst>
              <a:ext uri="{FF2B5EF4-FFF2-40B4-BE49-F238E27FC236}">
                <a16:creationId xmlns:a16="http://schemas.microsoft.com/office/drawing/2014/main" id="{E99A10FA-DAEC-67BE-6CE9-40F3FAF204F2}"/>
              </a:ext>
            </a:extLst>
          </p:cNvPr>
          <p:cNvSpPr>
            <a:spLocks noGrp="1"/>
          </p:cNvSpPr>
          <p:nvPr>
            <p:ph idx="1"/>
          </p:nvPr>
        </p:nvSpPr>
        <p:spPr>
          <a:xfrm>
            <a:off x="677334" y="2160589"/>
            <a:ext cx="8596668" cy="1871915"/>
          </a:xfrm>
        </p:spPr>
        <p:txBody>
          <a:bodyPr>
            <a:normAutofit fontScale="92500" lnSpcReduction="20000"/>
          </a:bodyPr>
          <a:lstStyle/>
          <a:p>
            <a:pPr marL="0" indent="0">
              <a:buNone/>
            </a:pPr>
            <a:r>
              <a:rPr lang="en-US" b="1" dirty="0">
                <a:solidFill>
                  <a:schemeClr val="tx1"/>
                </a:solidFill>
              </a:rPr>
              <a:t>Key Findings</a:t>
            </a:r>
          </a:p>
          <a:p>
            <a:pPr>
              <a:buClr>
                <a:schemeClr val="tx1"/>
              </a:buClr>
              <a:buFont typeface="Arial" panose="020B0604020202020204" pitchFamily="34" charset="0"/>
              <a:buChar char="•"/>
            </a:pPr>
            <a:r>
              <a:rPr lang="en-US" sz="1700" dirty="0">
                <a:solidFill>
                  <a:schemeClr val="tx1"/>
                </a:solidFill>
              </a:rPr>
              <a:t>Customers aged 65+ achieved the highest subscription rate (80.4%). </a:t>
            </a:r>
          </a:p>
          <a:p>
            <a:pPr>
              <a:buClr>
                <a:schemeClr val="tx1"/>
              </a:buClr>
              <a:buFont typeface="Arial" panose="020B0604020202020204" pitchFamily="34" charset="0"/>
              <a:buChar char="•"/>
            </a:pPr>
            <a:r>
              <a:rPr lang="en-US" sz="1700" dirty="0">
                <a:solidFill>
                  <a:schemeClr val="tx1"/>
                </a:solidFill>
              </a:rPr>
              <a:t>Students recorded the highest conversion rate among occupations (74.7%). </a:t>
            </a:r>
          </a:p>
          <a:p>
            <a:pPr>
              <a:buClr>
                <a:schemeClr val="tx1"/>
              </a:buClr>
              <a:buFont typeface="Arial" panose="020B0604020202020204" pitchFamily="34" charset="0"/>
              <a:buChar char="•"/>
            </a:pPr>
            <a:r>
              <a:rPr lang="en-US" sz="1700" dirty="0">
                <a:solidFill>
                  <a:schemeClr val="tx1"/>
                </a:solidFill>
              </a:rPr>
              <a:t>Customers with very high balances achieved a subscription rate of 57.5%. </a:t>
            </a:r>
          </a:p>
          <a:p>
            <a:pPr>
              <a:buClr>
                <a:schemeClr val="tx1"/>
              </a:buClr>
              <a:buFont typeface="Arial" panose="020B0604020202020204" pitchFamily="34" charset="0"/>
              <a:buChar char="•"/>
            </a:pPr>
            <a:r>
              <a:rPr lang="en-US" sz="1700" dirty="0">
                <a:solidFill>
                  <a:schemeClr val="tx1"/>
                </a:solidFill>
              </a:rPr>
              <a:t>Customers without housing loans subscribed significantly more frequently than customers with housing loans.</a:t>
            </a:r>
          </a:p>
          <a:p>
            <a:pPr marL="0" indent="0">
              <a:buNone/>
            </a:pPr>
            <a:endParaRPr lang="en-US" dirty="0"/>
          </a:p>
        </p:txBody>
      </p:sp>
    </p:spTree>
    <p:extLst>
      <p:ext uri="{BB962C8B-B14F-4D97-AF65-F5344CB8AC3E}">
        <p14:creationId xmlns:p14="http://schemas.microsoft.com/office/powerpoint/2010/main" val="2207306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6949F-1BB1-8A11-887E-E6C918878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B8C95-A0FA-58AD-9B98-3F1E150CEA2A}"/>
              </a:ext>
            </a:extLst>
          </p:cNvPr>
          <p:cNvSpPr>
            <a:spLocks noGrp="1"/>
          </p:cNvSpPr>
          <p:nvPr>
            <p:ph type="title"/>
          </p:nvPr>
        </p:nvSpPr>
        <p:spPr>
          <a:xfrm>
            <a:off x="677334" y="137587"/>
            <a:ext cx="8596668" cy="1320800"/>
          </a:xfrm>
        </p:spPr>
        <p:txBody>
          <a:bodyPr/>
          <a:lstStyle/>
          <a:p>
            <a:pPr algn="l"/>
            <a:r>
              <a:rPr lang="en-US" sz="4000" dirty="0">
                <a:solidFill>
                  <a:schemeClr val="tx1"/>
                </a:solidFill>
              </a:rPr>
              <a:t>Customer &amp; Financial Profile Dashboard</a:t>
            </a:r>
          </a:p>
        </p:txBody>
      </p:sp>
      <p:pic>
        <p:nvPicPr>
          <p:cNvPr id="8" name="Picture 7">
            <a:extLst>
              <a:ext uri="{FF2B5EF4-FFF2-40B4-BE49-F238E27FC236}">
                <a16:creationId xmlns:a16="http://schemas.microsoft.com/office/drawing/2014/main" id="{4B8075F6-0765-B60D-5EC5-508626137A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572768"/>
            <a:ext cx="8948252" cy="5005228"/>
          </a:xfrm>
          <a:prstGeom prst="rect">
            <a:avLst/>
          </a:prstGeom>
        </p:spPr>
      </p:pic>
    </p:spTree>
    <p:extLst>
      <p:ext uri="{BB962C8B-B14F-4D97-AF65-F5344CB8AC3E}">
        <p14:creationId xmlns:p14="http://schemas.microsoft.com/office/powerpoint/2010/main" val="1571915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9DA5-E94C-D98A-7278-A038D9F83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B5F1AA-608F-8827-9361-5C01F05A2822}"/>
              </a:ext>
            </a:extLst>
          </p:cNvPr>
          <p:cNvSpPr>
            <a:spLocks noGrp="1"/>
          </p:cNvSpPr>
          <p:nvPr>
            <p:ph type="title"/>
          </p:nvPr>
        </p:nvSpPr>
        <p:spPr/>
        <p:txBody>
          <a:bodyPr/>
          <a:lstStyle/>
          <a:p>
            <a:r>
              <a:rPr lang="en-US" sz="4000" dirty="0">
                <a:solidFill>
                  <a:schemeClr val="tx1"/>
                </a:solidFill>
              </a:rPr>
              <a:t>Campaign Effectiveness Insights</a:t>
            </a:r>
          </a:p>
        </p:txBody>
      </p:sp>
      <p:sp>
        <p:nvSpPr>
          <p:cNvPr id="4" name="Content Placeholder 3">
            <a:extLst>
              <a:ext uri="{FF2B5EF4-FFF2-40B4-BE49-F238E27FC236}">
                <a16:creationId xmlns:a16="http://schemas.microsoft.com/office/drawing/2014/main" id="{F2EF32D3-D27F-C1C2-577D-CCE6322F6507}"/>
              </a:ext>
            </a:extLst>
          </p:cNvPr>
          <p:cNvSpPr>
            <a:spLocks noGrp="1"/>
          </p:cNvSpPr>
          <p:nvPr>
            <p:ph idx="1"/>
          </p:nvPr>
        </p:nvSpPr>
        <p:spPr>
          <a:xfrm>
            <a:off x="677334" y="4718304"/>
            <a:ext cx="8596668" cy="1396209"/>
          </a:xfrm>
        </p:spPr>
        <p:txBody>
          <a:bodyPr>
            <a:normAutofit fontScale="55000" lnSpcReduction="20000"/>
          </a:bodyPr>
          <a:lstStyle/>
          <a:p>
            <a:pPr marL="0" indent="0">
              <a:buNone/>
            </a:pPr>
            <a:r>
              <a:rPr lang="en-US" sz="2900" b="1" dirty="0">
                <a:solidFill>
                  <a:schemeClr val="tx1"/>
                </a:solidFill>
              </a:rPr>
              <a:t>Key Findings</a:t>
            </a:r>
          </a:p>
          <a:p>
            <a:pPr>
              <a:buClr>
                <a:schemeClr val="tx1"/>
              </a:buClr>
              <a:buFont typeface="Arial" panose="020B0604020202020204" pitchFamily="34" charset="0"/>
              <a:buChar char="•"/>
            </a:pPr>
            <a:r>
              <a:rPr lang="en-US" sz="2900" dirty="0">
                <a:solidFill>
                  <a:schemeClr val="tx1"/>
                </a:solidFill>
              </a:rPr>
              <a:t>Customers contacted once achieved the highest reliable conversion rate (53.4%). </a:t>
            </a:r>
          </a:p>
          <a:p>
            <a:pPr>
              <a:buClr>
                <a:schemeClr val="tx1"/>
              </a:buClr>
              <a:buFont typeface="Arial" panose="020B0604020202020204" pitchFamily="34" charset="0"/>
              <a:buChar char="•"/>
            </a:pPr>
            <a:r>
              <a:rPr lang="en-US" sz="2900" dirty="0">
                <a:solidFill>
                  <a:schemeClr val="tx1"/>
                </a:solidFill>
              </a:rPr>
              <a:t>Conversion rates declined steadily as contact frequency increased. </a:t>
            </a:r>
          </a:p>
          <a:p>
            <a:pPr>
              <a:buClr>
                <a:schemeClr val="tx1"/>
              </a:buClr>
              <a:buFont typeface="Arial" panose="020B0604020202020204" pitchFamily="34" charset="0"/>
              <a:buChar char="•"/>
            </a:pPr>
            <a:r>
              <a:rPr lang="en-US" sz="2900" dirty="0">
                <a:solidFill>
                  <a:schemeClr val="tx1"/>
                </a:solidFill>
              </a:rPr>
              <a:t>Subscription rates increased from 12.0% for short calls to 82.2% for very long calls.</a:t>
            </a:r>
          </a:p>
          <a:p>
            <a:pPr>
              <a:buClr>
                <a:schemeClr val="tx1"/>
              </a:buClr>
              <a:buFont typeface="Arial" panose="020B0604020202020204" pitchFamily="34" charset="0"/>
              <a:buChar char="•"/>
            </a:pPr>
            <a:endParaRPr lang="en-US" b="1" dirty="0">
              <a:solidFill>
                <a:schemeClr val="tx1"/>
              </a:solidFill>
            </a:endParaRPr>
          </a:p>
          <a:p>
            <a:pPr marL="0" indent="0">
              <a:buNone/>
            </a:pPr>
            <a:endParaRPr lang="en-US" dirty="0"/>
          </a:p>
        </p:txBody>
      </p:sp>
      <p:pic>
        <p:nvPicPr>
          <p:cNvPr id="7" name="Picture 6">
            <a:extLst>
              <a:ext uri="{FF2B5EF4-FFF2-40B4-BE49-F238E27FC236}">
                <a16:creationId xmlns:a16="http://schemas.microsoft.com/office/drawing/2014/main" id="{C715BC96-D20F-667A-EA57-40572013FB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722974"/>
            <a:ext cx="8750130" cy="2516176"/>
          </a:xfrm>
          <a:prstGeom prst="rect">
            <a:avLst/>
          </a:prstGeom>
        </p:spPr>
      </p:pic>
    </p:spTree>
    <p:extLst>
      <p:ext uri="{BB962C8B-B14F-4D97-AF65-F5344CB8AC3E}">
        <p14:creationId xmlns:p14="http://schemas.microsoft.com/office/powerpoint/2010/main" val="35812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B6D40-D76A-623A-861F-F8722807E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AF31B-3CEB-36A7-6275-2B5F6FF47675}"/>
              </a:ext>
            </a:extLst>
          </p:cNvPr>
          <p:cNvSpPr>
            <a:spLocks noGrp="1"/>
          </p:cNvSpPr>
          <p:nvPr>
            <p:ph type="title"/>
          </p:nvPr>
        </p:nvSpPr>
        <p:spPr>
          <a:xfrm>
            <a:off x="677334" y="137587"/>
            <a:ext cx="8596668" cy="795101"/>
          </a:xfrm>
        </p:spPr>
        <p:txBody>
          <a:bodyPr/>
          <a:lstStyle/>
          <a:p>
            <a:r>
              <a:rPr lang="en-US" sz="4000" dirty="0">
                <a:solidFill>
                  <a:schemeClr val="tx1"/>
                </a:solidFill>
              </a:rPr>
              <a:t>Campaign Effectiveness Dashboard</a:t>
            </a:r>
          </a:p>
        </p:txBody>
      </p:sp>
      <p:pic>
        <p:nvPicPr>
          <p:cNvPr id="4" name="Picture 3">
            <a:extLst>
              <a:ext uri="{FF2B5EF4-FFF2-40B4-BE49-F238E27FC236}">
                <a16:creationId xmlns:a16="http://schemas.microsoft.com/office/drawing/2014/main" id="{00D69638-41BB-FE45-E8B2-8B35D5B68D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1444752"/>
            <a:ext cx="8932192" cy="5026359"/>
          </a:xfrm>
          <a:prstGeom prst="rect">
            <a:avLst/>
          </a:prstGeom>
        </p:spPr>
      </p:pic>
    </p:spTree>
    <p:extLst>
      <p:ext uri="{BB962C8B-B14F-4D97-AF65-F5344CB8AC3E}">
        <p14:creationId xmlns:p14="http://schemas.microsoft.com/office/powerpoint/2010/main" val="1741894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90773-5113-BF2A-6460-F1AA82F4D6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5866A-BB66-E8E7-87C5-30A5B1EEB926}"/>
              </a:ext>
            </a:extLst>
          </p:cNvPr>
          <p:cNvSpPr>
            <a:spLocks noGrp="1"/>
          </p:cNvSpPr>
          <p:nvPr>
            <p:ph type="title"/>
          </p:nvPr>
        </p:nvSpPr>
        <p:spPr/>
        <p:txBody>
          <a:bodyPr/>
          <a:lstStyle/>
          <a:p>
            <a:r>
              <a:rPr lang="en-US" sz="4000" dirty="0">
                <a:solidFill>
                  <a:schemeClr val="tx1"/>
                </a:solidFill>
              </a:rPr>
              <a:t>Previous Campaign Analysis</a:t>
            </a:r>
          </a:p>
        </p:txBody>
      </p:sp>
      <p:sp>
        <p:nvSpPr>
          <p:cNvPr id="4" name="Content Placeholder 3">
            <a:extLst>
              <a:ext uri="{FF2B5EF4-FFF2-40B4-BE49-F238E27FC236}">
                <a16:creationId xmlns:a16="http://schemas.microsoft.com/office/drawing/2014/main" id="{66A59E96-B6E0-20DF-55CF-09D5CD3AC194}"/>
              </a:ext>
            </a:extLst>
          </p:cNvPr>
          <p:cNvSpPr>
            <a:spLocks noGrp="1"/>
          </p:cNvSpPr>
          <p:nvPr>
            <p:ph sz="half" idx="2"/>
          </p:nvPr>
        </p:nvSpPr>
        <p:spPr>
          <a:xfrm>
            <a:off x="675745" y="4837176"/>
            <a:ext cx="8596668" cy="1920240"/>
          </a:xfrm>
        </p:spPr>
        <p:txBody>
          <a:bodyPr>
            <a:normAutofit/>
          </a:bodyPr>
          <a:lstStyle/>
          <a:p>
            <a:pPr marL="0" indent="0">
              <a:buNone/>
            </a:pPr>
            <a:r>
              <a:rPr lang="en-US" sz="1600" b="1" dirty="0">
                <a:solidFill>
                  <a:schemeClr val="tx1"/>
                </a:solidFill>
              </a:rPr>
              <a:t>Key Findings</a:t>
            </a:r>
          </a:p>
          <a:p>
            <a:pPr>
              <a:buClr>
                <a:schemeClr val="tx1"/>
              </a:buClr>
              <a:buFont typeface="Arial" panose="020B0604020202020204" pitchFamily="34" charset="0"/>
              <a:buChar char="•"/>
            </a:pPr>
            <a:r>
              <a:rPr lang="en-US" sz="1600" dirty="0">
                <a:solidFill>
                  <a:schemeClr val="tx1"/>
                </a:solidFill>
              </a:rPr>
              <a:t>Customers with a successful previous campaign outcome achieved a 91.3% subscription rate. </a:t>
            </a:r>
          </a:p>
          <a:p>
            <a:pPr>
              <a:buClr>
                <a:schemeClr val="tx1"/>
              </a:buClr>
              <a:buFont typeface="Arial" panose="020B0604020202020204" pitchFamily="34" charset="0"/>
              <a:buChar char="•"/>
            </a:pPr>
            <a:r>
              <a:rPr lang="en-US" sz="1600" dirty="0">
                <a:solidFill>
                  <a:schemeClr val="tx1"/>
                </a:solidFill>
              </a:rPr>
              <a:t>Previously contacted customers converted at 67.1%, compared to 40.7% among new customers.</a:t>
            </a:r>
          </a:p>
          <a:p>
            <a:pPr marL="0" indent="0">
              <a:buNone/>
            </a:pPr>
            <a:endParaRPr lang="en-US" dirty="0"/>
          </a:p>
        </p:txBody>
      </p:sp>
      <p:pic>
        <p:nvPicPr>
          <p:cNvPr id="8" name="Picture 7">
            <a:extLst>
              <a:ext uri="{FF2B5EF4-FFF2-40B4-BE49-F238E27FC236}">
                <a16:creationId xmlns:a16="http://schemas.microsoft.com/office/drawing/2014/main" id="{8532FC92-8527-AAE5-C824-41F399CDC2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156" y="1768690"/>
            <a:ext cx="8766194" cy="2684438"/>
          </a:xfrm>
          <a:prstGeom prst="rect">
            <a:avLst/>
          </a:prstGeom>
        </p:spPr>
      </p:pic>
    </p:spTree>
    <p:extLst>
      <p:ext uri="{BB962C8B-B14F-4D97-AF65-F5344CB8AC3E}">
        <p14:creationId xmlns:p14="http://schemas.microsoft.com/office/powerpoint/2010/main" val="3347696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C556-E15E-52A4-2701-7280A8CC3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F4441-7913-1E89-426F-5EC981C7C798}"/>
              </a:ext>
            </a:extLst>
          </p:cNvPr>
          <p:cNvSpPr>
            <a:spLocks noGrp="1"/>
          </p:cNvSpPr>
          <p:nvPr>
            <p:ph type="title"/>
          </p:nvPr>
        </p:nvSpPr>
        <p:spPr/>
        <p:txBody>
          <a:bodyPr/>
          <a:lstStyle/>
          <a:p>
            <a:pPr algn="l"/>
            <a:r>
              <a:rPr lang="en-US" sz="4000" dirty="0">
                <a:solidFill>
                  <a:schemeClr val="tx1"/>
                </a:solidFill>
              </a:rPr>
              <a:t>Key Business Insights</a:t>
            </a:r>
          </a:p>
        </p:txBody>
      </p:sp>
      <p:sp>
        <p:nvSpPr>
          <p:cNvPr id="11" name="Rectangle 8">
            <a:extLst>
              <a:ext uri="{FF2B5EF4-FFF2-40B4-BE49-F238E27FC236}">
                <a16:creationId xmlns:a16="http://schemas.microsoft.com/office/drawing/2014/main" id="{19AA2A37-95D1-EEDA-1DAE-05442C729A2A}"/>
              </a:ext>
            </a:extLst>
          </p:cNvPr>
          <p:cNvSpPr>
            <a:spLocks noGrp="1" noChangeArrowheads="1"/>
          </p:cNvSpPr>
          <p:nvPr>
            <p:ph idx="1"/>
          </p:nvPr>
        </p:nvSpPr>
        <p:spPr bwMode="auto">
          <a:xfrm>
            <a:off x="677334" y="1930400"/>
            <a:ext cx="925125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defTabSz="914400" eaLnBrk="0" fontAlgn="base" hangingPunct="0">
              <a:spcBef>
                <a:spcPct val="0"/>
              </a:spcBef>
              <a:spcAft>
                <a:spcPct val="0"/>
              </a:spcAft>
              <a:buClrTx/>
              <a:buSz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Previous campaign success is the strongest predictor of future subscription. </a:t>
            </a:r>
          </a:p>
          <a:p>
            <a:pPr algn="dist"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Longer customer conversations are strongly associated with higher conversion rates. </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Repeated contact attempts generate diminishing returns. </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Financially stable customers are more receptive to term deposit products. </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Customer demographics influence campaign performance. </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Campaign timing affects customer responsiveness. </a:t>
            </a:r>
          </a:p>
        </p:txBody>
      </p:sp>
    </p:spTree>
    <p:extLst>
      <p:ext uri="{BB962C8B-B14F-4D97-AF65-F5344CB8AC3E}">
        <p14:creationId xmlns:p14="http://schemas.microsoft.com/office/powerpoint/2010/main" val="244814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4608E-D08D-9102-98A2-F984F55C05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7EA01-F8EB-789D-DFF6-A245832BDE0D}"/>
              </a:ext>
            </a:extLst>
          </p:cNvPr>
          <p:cNvSpPr>
            <a:spLocks noGrp="1"/>
          </p:cNvSpPr>
          <p:nvPr>
            <p:ph type="title"/>
          </p:nvPr>
        </p:nvSpPr>
        <p:spPr>
          <a:xfrm>
            <a:off x="677334" y="609600"/>
            <a:ext cx="8596668" cy="743712"/>
          </a:xfrm>
        </p:spPr>
        <p:txBody>
          <a:bodyPr/>
          <a:lstStyle/>
          <a:p>
            <a:r>
              <a:rPr lang="en-US" sz="4000" dirty="0">
                <a:solidFill>
                  <a:schemeClr val="tx1"/>
                </a:solidFill>
              </a:rPr>
              <a:t>Recommendations &amp; Conclusion</a:t>
            </a:r>
          </a:p>
        </p:txBody>
      </p:sp>
      <p:sp>
        <p:nvSpPr>
          <p:cNvPr id="11" name="Rectangle 8">
            <a:extLst>
              <a:ext uri="{FF2B5EF4-FFF2-40B4-BE49-F238E27FC236}">
                <a16:creationId xmlns:a16="http://schemas.microsoft.com/office/drawing/2014/main" id="{8DF80490-0D47-B5E7-6FF7-C5D4457509AE}"/>
              </a:ext>
            </a:extLst>
          </p:cNvPr>
          <p:cNvSpPr>
            <a:spLocks noGrp="1" noChangeArrowheads="1"/>
          </p:cNvSpPr>
          <p:nvPr>
            <p:ph idx="1"/>
          </p:nvPr>
        </p:nvSpPr>
        <p:spPr bwMode="auto">
          <a:xfrm>
            <a:off x="677334" y="1560565"/>
            <a:ext cx="8219778" cy="506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a:solidFill>
                  <a:schemeClr val="tx1"/>
                </a:solidFill>
              </a:rPr>
              <a:t>Recommendations</a:t>
            </a:r>
          </a:p>
          <a:p>
            <a:pPr marL="0" indent="0">
              <a:buNone/>
            </a:pPr>
            <a:r>
              <a:rPr lang="en-US" sz="1600" dirty="0">
                <a:solidFill>
                  <a:schemeClr val="tx1"/>
                </a:solidFill>
              </a:rPr>
              <a:t>Prioritize customers with positive campaign histories. </a:t>
            </a:r>
          </a:p>
          <a:p>
            <a:pPr marL="0" indent="0">
              <a:buNone/>
            </a:pPr>
            <a:r>
              <a:rPr lang="en-US" sz="1600" dirty="0">
                <a:solidFill>
                  <a:schemeClr val="tx1"/>
                </a:solidFill>
              </a:rPr>
              <a:t>Focus on high-performing customer segments. </a:t>
            </a:r>
          </a:p>
          <a:p>
            <a:pPr marL="0" indent="0">
              <a:buNone/>
            </a:pPr>
            <a:r>
              <a:rPr lang="en-US" sz="1600" dirty="0">
                <a:solidFill>
                  <a:schemeClr val="tx1"/>
                </a:solidFill>
              </a:rPr>
              <a:t>Improve the quality of early customer interactions. </a:t>
            </a:r>
          </a:p>
          <a:p>
            <a:pPr marL="0" indent="0">
              <a:buNone/>
            </a:pPr>
            <a:r>
              <a:rPr lang="en-US" sz="1600" dirty="0">
                <a:solidFill>
                  <a:schemeClr val="tx1"/>
                </a:solidFill>
              </a:rPr>
              <a:t>Limit excessive contact attempts. </a:t>
            </a:r>
          </a:p>
          <a:p>
            <a:pPr marL="0" indent="0">
              <a:buNone/>
            </a:pPr>
            <a:r>
              <a:rPr lang="en-US" sz="1600" dirty="0">
                <a:solidFill>
                  <a:schemeClr val="tx1"/>
                </a:solidFill>
              </a:rPr>
              <a:t>Target financially stable customers. </a:t>
            </a:r>
          </a:p>
          <a:p>
            <a:pPr marL="0" indent="0">
              <a:buNone/>
            </a:pPr>
            <a:r>
              <a:rPr lang="en-US" sz="1600" dirty="0">
                <a:solidFill>
                  <a:schemeClr val="tx1"/>
                </a:solidFill>
              </a:rPr>
              <a:t>Strengthen agent training and engagement strategies. </a:t>
            </a:r>
          </a:p>
          <a:p>
            <a:pPr marL="0" indent="0">
              <a:buNone/>
            </a:pPr>
            <a:r>
              <a:rPr lang="en-US" sz="1600" dirty="0">
                <a:solidFill>
                  <a:schemeClr val="tx1"/>
                </a:solidFill>
              </a:rPr>
              <a:t>Optimize campaign timing. </a:t>
            </a:r>
          </a:p>
          <a:p>
            <a:pPr marL="0" indent="0">
              <a:buNone/>
            </a:pPr>
            <a:endParaRPr lang="en-US" sz="1600" dirty="0">
              <a:solidFill>
                <a:schemeClr val="tx1"/>
              </a:solidFill>
            </a:endParaRPr>
          </a:p>
          <a:p>
            <a:pPr marL="0" indent="0">
              <a:buNone/>
            </a:pPr>
            <a:r>
              <a:rPr lang="en-US" sz="1600" b="1" dirty="0">
                <a:solidFill>
                  <a:schemeClr val="tx1"/>
                </a:solidFill>
              </a:rPr>
              <a:t>Conclusion</a:t>
            </a:r>
          </a:p>
          <a:p>
            <a:pPr marL="0" indent="0">
              <a:buNone/>
            </a:pPr>
            <a:r>
              <a:rPr lang="en-US" sz="1600" dirty="0">
                <a:solidFill>
                  <a:schemeClr val="tx1"/>
                </a:solidFill>
              </a:rPr>
              <a:t>The analysis demonstrates that previous customer relationships, customer engagement during calls, financial stability, and campaign execution significantly influence subscription behavior. By focusing on these areas, the bank can improve marketing efficiency, increase conversion rates, and achieve better returns on future marketing investments.</a:t>
            </a:r>
          </a:p>
        </p:txBody>
      </p:sp>
    </p:spTree>
    <p:extLst>
      <p:ext uri="{BB962C8B-B14F-4D97-AF65-F5344CB8AC3E}">
        <p14:creationId xmlns:p14="http://schemas.microsoft.com/office/powerpoint/2010/main" val="2967065990"/>
      </p:ext>
    </p:extLst>
  </p:cSld>
  <p:clrMapOvr>
    <a:masterClrMapping/>
  </p:clrMapOvr>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39</TotalTime>
  <Words>434</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Bank Marketing Campaign Analysis</vt:lpstr>
      <vt:lpstr>Business Problem</vt:lpstr>
      <vt:lpstr>Dataset Overview</vt:lpstr>
      <vt:lpstr>Customer &amp; Financial Profile Insights</vt:lpstr>
      <vt:lpstr>Customer &amp; Financial Profile Dashboard</vt:lpstr>
      <vt:lpstr>Campaign Effectiveness Insights</vt:lpstr>
      <vt:lpstr>Campaign Effectiveness Dashboard</vt:lpstr>
      <vt:lpstr>Previous Campaign Analysis</vt:lpstr>
      <vt:lpstr>Key Business Insights</vt:lpstr>
      <vt:lpstr>Recommendations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Aderonke Veronica Aderogba</dc:creator>
  <cp:lastModifiedBy>Aderonke Veronica Aderogba</cp:lastModifiedBy>
  <cp:revision>1</cp:revision>
  <dcterms:created xsi:type="dcterms:W3CDTF">2026-06-08T11:51:55Z</dcterms:created>
  <dcterms:modified xsi:type="dcterms:W3CDTF">2026-06-08T12:31:15Z</dcterms:modified>
</cp:coreProperties>
</file>