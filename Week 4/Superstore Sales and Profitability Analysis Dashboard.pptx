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6" r:id="rId1"/>
  </p:sldMasterIdLst>
  <p:sldIdLst>
    <p:sldId id="256" r:id="rId2"/>
    <p:sldId id="257" r:id="rId3"/>
    <p:sldId id="258" r:id="rId4"/>
    <p:sldId id="259" r:id="rId5"/>
    <p:sldId id="260" r:id="rId6"/>
    <p:sldId id="261" r:id="rId7"/>
    <p:sldId id="262" r:id="rId8"/>
    <p:sldId id="264"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4" d="100"/>
          <a:sy n="84" d="100"/>
        </p:scale>
        <p:origin x="65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9168DAC-99CC-4170-BBC5-E69D48335E0B}" type="datetimeFigureOut">
              <a:rPr lang="en-US" smtClean="0"/>
              <a:t>6/3/2026</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F8136021-354C-4071-8965-768B54C883B1}" type="slidenum">
              <a:rPr lang="en-US" smtClean="0"/>
              <a:t>‹#›</a:t>
            </a:fld>
            <a:endParaRPr lang="en-US"/>
          </a:p>
        </p:txBody>
      </p:sp>
    </p:spTree>
    <p:extLst>
      <p:ext uri="{BB962C8B-B14F-4D97-AF65-F5344CB8AC3E}">
        <p14:creationId xmlns:p14="http://schemas.microsoft.com/office/powerpoint/2010/main" val="31065332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9168DAC-99CC-4170-BBC5-E69D48335E0B}" type="datetimeFigureOut">
              <a:rPr lang="en-US" smtClean="0"/>
              <a:t>6/3/2026</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F8136021-354C-4071-8965-768B54C883B1}" type="slidenum">
              <a:rPr lang="en-US" smtClean="0"/>
              <a:t>‹#›</a:t>
            </a:fld>
            <a:endParaRPr lang="en-US"/>
          </a:p>
        </p:txBody>
      </p:sp>
    </p:spTree>
    <p:extLst>
      <p:ext uri="{BB962C8B-B14F-4D97-AF65-F5344CB8AC3E}">
        <p14:creationId xmlns:p14="http://schemas.microsoft.com/office/powerpoint/2010/main" val="27037360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9168DAC-99CC-4170-BBC5-E69D48335E0B}" type="datetimeFigureOut">
              <a:rPr lang="en-US" smtClean="0"/>
              <a:t>6/3/2026</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F8136021-354C-4071-8965-768B54C883B1}" type="slidenum">
              <a:rPr lang="en-US" smtClean="0"/>
              <a:t>‹#›</a:t>
            </a:fld>
            <a:endParaRPr lang="en-US"/>
          </a:p>
        </p:txBody>
      </p:sp>
    </p:spTree>
    <p:extLst>
      <p:ext uri="{BB962C8B-B14F-4D97-AF65-F5344CB8AC3E}">
        <p14:creationId xmlns:p14="http://schemas.microsoft.com/office/powerpoint/2010/main" val="13795853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9168DAC-99CC-4170-BBC5-E69D48335E0B}" type="datetimeFigureOut">
              <a:rPr lang="en-US" smtClean="0"/>
              <a:t>6/3/2026</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F8136021-354C-4071-8965-768B54C883B1}" type="slidenum">
              <a:rPr lang="en-US" smtClean="0"/>
              <a:t>‹#›</a:t>
            </a:fld>
            <a:endParaRPr lang="en-US"/>
          </a:p>
        </p:txBody>
      </p:sp>
    </p:spTree>
    <p:extLst>
      <p:ext uri="{BB962C8B-B14F-4D97-AF65-F5344CB8AC3E}">
        <p14:creationId xmlns:p14="http://schemas.microsoft.com/office/powerpoint/2010/main" val="17595684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9168DAC-99CC-4170-BBC5-E69D48335E0B}" type="datetimeFigureOut">
              <a:rPr lang="en-US" smtClean="0"/>
              <a:t>6/3/2026</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F8136021-354C-4071-8965-768B54C883B1}" type="slidenum">
              <a:rPr lang="en-US" smtClean="0"/>
              <a:t>‹#›</a:t>
            </a:fld>
            <a:endParaRPr lang="en-US"/>
          </a:p>
        </p:txBody>
      </p:sp>
    </p:spTree>
    <p:extLst>
      <p:ext uri="{BB962C8B-B14F-4D97-AF65-F5344CB8AC3E}">
        <p14:creationId xmlns:p14="http://schemas.microsoft.com/office/powerpoint/2010/main" val="19836487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9168DAC-99CC-4170-BBC5-E69D48335E0B}" type="datetimeFigureOut">
              <a:rPr lang="en-US" smtClean="0"/>
              <a:t>6/3/2026</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F8136021-354C-4071-8965-768B54C883B1}" type="slidenum">
              <a:rPr lang="en-US" smtClean="0"/>
              <a:t>‹#›</a:t>
            </a:fld>
            <a:endParaRPr lang="en-US"/>
          </a:p>
        </p:txBody>
      </p:sp>
    </p:spTree>
    <p:extLst>
      <p:ext uri="{BB962C8B-B14F-4D97-AF65-F5344CB8AC3E}">
        <p14:creationId xmlns:p14="http://schemas.microsoft.com/office/powerpoint/2010/main" val="28596051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9168DAC-99CC-4170-BBC5-E69D48335E0B}" type="datetimeFigureOut">
              <a:rPr lang="en-US" smtClean="0"/>
              <a:t>6/3/2026</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F8136021-354C-4071-8965-768B54C883B1}" type="slidenum">
              <a:rPr lang="en-US" smtClean="0"/>
              <a:t>‹#›</a:t>
            </a:fld>
            <a:endParaRPr lang="en-US"/>
          </a:p>
        </p:txBody>
      </p:sp>
    </p:spTree>
    <p:extLst>
      <p:ext uri="{BB962C8B-B14F-4D97-AF65-F5344CB8AC3E}">
        <p14:creationId xmlns:p14="http://schemas.microsoft.com/office/powerpoint/2010/main" val="8296316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9168DAC-99CC-4170-BBC5-E69D48335E0B}" type="datetimeFigureOut">
              <a:rPr lang="en-US" smtClean="0"/>
              <a:t>6/3/2026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F8136021-354C-4071-8965-768B54C883B1}" type="slidenum">
              <a:rPr lang="en-US" smtClean="0"/>
              <a:t>‹#›</a:t>
            </a:fld>
            <a:endParaRPr lang="en-US"/>
          </a:p>
        </p:txBody>
      </p:sp>
    </p:spTree>
    <p:extLst>
      <p:ext uri="{BB962C8B-B14F-4D97-AF65-F5344CB8AC3E}">
        <p14:creationId xmlns:p14="http://schemas.microsoft.com/office/powerpoint/2010/main" val="33948929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9168DAC-99CC-4170-BBC5-E69D48335E0B}" type="datetimeFigureOut">
              <a:rPr lang="en-US" smtClean="0"/>
              <a:t>6/3/2026</a:t>
            </a:fld>
            <a:endParaRPr lang="en-US"/>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F8136021-354C-4071-8965-768B54C883B1}" type="slidenum">
              <a:rPr lang="en-US" smtClean="0"/>
              <a:t>‹#›</a:t>
            </a:fld>
            <a:endParaRPr lang="en-US"/>
          </a:p>
        </p:txBody>
      </p:sp>
    </p:spTree>
    <p:extLst>
      <p:ext uri="{BB962C8B-B14F-4D97-AF65-F5344CB8AC3E}">
        <p14:creationId xmlns:p14="http://schemas.microsoft.com/office/powerpoint/2010/main" val="3482114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9168DAC-99CC-4170-BBC5-E69D48335E0B}" type="datetimeFigureOut">
              <a:rPr lang="en-US" smtClean="0"/>
              <a:t>6/3/2026</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F8136021-354C-4071-8965-768B54C883B1}" type="slidenum">
              <a:rPr lang="en-US" smtClean="0"/>
              <a:t>‹#›</a:t>
            </a:fld>
            <a:endParaRPr lang="en-US"/>
          </a:p>
        </p:txBody>
      </p:sp>
    </p:spTree>
    <p:extLst>
      <p:ext uri="{BB962C8B-B14F-4D97-AF65-F5344CB8AC3E}">
        <p14:creationId xmlns:p14="http://schemas.microsoft.com/office/powerpoint/2010/main" val="15682040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9168DAC-99CC-4170-BBC5-E69D48335E0B}" type="datetimeFigureOut">
              <a:rPr lang="en-US" smtClean="0"/>
              <a:t>6/3/2026</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F8136021-354C-4071-8965-768B54C883B1}"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3990907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79168DAC-99CC-4170-BBC5-E69D48335E0B}" type="datetimeFigureOut">
              <a:rPr lang="en-US" smtClean="0"/>
              <a:t>6/3/2026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F8136021-354C-4071-8965-768B54C883B1}" type="slidenum">
              <a:rPr lang="en-US" smtClean="0"/>
              <a:t>‹#›</a:t>
            </a:fld>
            <a:endParaRPr lang="en-US"/>
          </a:p>
        </p:txBody>
      </p:sp>
    </p:spTree>
    <p:extLst>
      <p:ext uri="{BB962C8B-B14F-4D97-AF65-F5344CB8AC3E}">
        <p14:creationId xmlns:p14="http://schemas.microsoft.com/office/powerpoint/2010/main" val="3288593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79168DAC-99CC-4170-BBC5-E69D48335E0B}" type="datetimeFigureOut">
              <a:rPr lang="en-US" smtClean="0"/>
              <a:t>6/3/2026</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F8136021-354C-4071-8965-768B54C883B1}"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6831410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79168DAC-99CC-4170-BBC5-E69D48335E0B}" type="datetimeFigureOut">
              <a:rPr lang="en-US" smtClean="0"/>
              <a:t>6/3/2026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F8136021-354C-4071-8965-768B54C883B1}" type="slidenum">
              <a:rPr lang="en-US" smtClean="0"/>
              <a:t>‹#›</a:t>
            </a:fld>
            <a:endParaRPr lang="en-US"/>
          </a:p>
        </p:txBody>
      </p:sp>
    </p:spTree>
    <p:extLst>
      <p:ext uri="{BB962C8B-B14F-4D97-AF65-F5344CB8AC3E}">
        <p14:creationId xmlns:p14="http://schemas.microsoft.com/office/powerpoint/2010/main" val="7294018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9168DAC-99CC-4170-BBC5-E69D48335E0B}" type="datetimeFigureOut">
              <a:rPr lang="en-US" smtClean="0"/>
              <a:t>6/3/2026</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F8136021-354C-4071-8965-768B54C883B1}" type="slidenum">
              <a:rPr lang="en-US" smtClean="0"/>
              <a:t>‹#›</a:t>
            </a:fld>
            <a:endParaRPr lang="en-US"/>
          </a:p>
        </p:txBody>
      </p:sp>
    </p:spTree>
    <p:extLst>
      <p:ext uri="{BB962C8B-B14F-4D97-AF65-F5344CB8AC3E}">
        <p14:creationId xmlns:p14="http://schemas.microsoft.com/office/powerpoint/2010/main" val="22319121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9168DAC-99CC-4170-BBC5-E69D48335E0B}" type="datetimeFigureOut">
              <a:rPr lang="en-US" smtClean="0"/>
              <a:t>6/3/2026</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F8136021-354C-4071-8965-768B54C883B1}" type="slidenum">
              <a:rPr lang="en-US" smtClean="0"/>
              <a:t>‹#›</a:t>
            </a:fld>
            <a:endParaRPr lang="en-US"/>
          </a:p>
        </p:txBody>
      </p:sp>
    </p:spTree>
    <p:extLst>
      <p:ext uri="{BB962C8B-B14F-4D97-AF65-F5344CB8AC3E}">
        <p14:creationId xmlns:p14="http://schemas.microsoft.com/office/powerpoint/2010/main" val="1470647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79168DAC-99CC-4170-BBC5-E69D48335E0B}" type="datetimeFigureOut">
              <a:rPr lang="en-US" smtClean="0"/>
              <a:t>6/3/2026</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F8136021-354C-4071-8965-768B54C883B1}" type="slidenum">
              <a:rPr lang="en-US" smtClean="0"/>
              <a:t>‹#›</a:t>
            </a:fld>
            <a:endParaRPr lang="en-US"/>
          </a:p>
        </p:txBody>
      </p:sp>
    </p:spTree>
    <p:extLst>
      <p:ext uri="{BB962C8B-B14F-4D97-AF65-F5344CB8AC3E}">
        <p14:creationId xmlns:p14="http://schemas.microsoft.com/office/powerpoint/2010/main" val="400048268"/>
      </p:ext>
    </p:extLst>
  </p:cSld>
  <p:clrMap bg1="lt1" tx1="dk1" bg2="lt2" tx2="dk2" accent1="accent1" accent2="accent2" accent3="accent3" accent4="accent4" accent5="accent5" accent6="accent6" hlink="hlink" folHlink="folHlink"/>
  <p:sldLayoutIdLst>
    <p:sldLayoutId id="2147483797" r:id="rId1"/>
    <p:sldLayoutId id="2147483798" r:id="rId2"/>
    <p:sldLayoutId id="2147483799" r:id="rId3"/>
    <p:sldLayoutId id="2147483800" r:id="rId4"/>
    <p:sldLayoutId id="2147483801" r:id="rId5"/>
    <p:sldLayoutId id="2147483802" r:id="rId6"/>
    <p:sldLayoutId id="2147483803" r:id="rId7"/>
    <p:sldLayoutId id="2147483804" r:id="rId8"/>
    <p:sldLayoutId id="2147483805" r:id="rId9"/>
    <p:sldLayoutId id="2147483806" r:id="rId10"/>
    <p:sldLayoutId id="2147483807" r:id="rId11"/>
    <p:sldLayoutId id="2147483808" r:id="rId12"/>
    <p:sldLayoutId id="2147483809" r:id="rId13"/>
    <p:sldLayoutId id="2147483810" r:id="rId14"/>
    <p:sldLayoutId id="2147483811" r:id="rId15"/>
    <p:sldLayoutId id="2147483812"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A223E0-D710-7E9D-6088-7A7012133F66}"/>
              </a:ext>
            </a:extLst>
          </p:cNvPr>
          <p:cNvSpPr>
            <a:spLocks noGrp="1"/>
          </p:cNvSpPr>
          <p:nvPr>
            <p:ph type="ctrTitle"/>
          </p:nvPr>
        </p:nvSpPr>
        <p:spPr>
          <a:xfrm>
            <a:off x="2580069" y="1426464"/>
            <a:ext cx="8915399" cy="2262781"/>
          </a:xfrm>
        </p:spPr>
        <p:txBody>
          <a:bodyPr>
            <a:normAutofit fontScale="90000"/>
          </a:bodyPr>
          <a:lstStyle/>
          <a:p>
            <a:r>
              <a:rPr lang="en-US" b="1" dirty="0">
                <a:solidFill>
                  <a:schemeClr val="tx1"/>
                </a:solidFill>
              </a:rPr>
              <a:t>Superstore Sales and Profitability Analysis Dashboard</a:t>
            </a:r>
          </a:p>
        </p:txBody>
      </p:sp>
      <p:sp>
        <p:nvSpPr>
          <p:cNvPr id="3" name="Subtitle 2">
            <a:extLst>
              <a:ext uri="{FF2B5EF4-FFF2-40B4-BE49-F238E27FC236}">
                <a16:creationId xmlns:a16="http://schemas.microsoft.com/office/drawing/2014/main" id="{0E0CE620-7CDC-37AB-5A99-4AAB791F7893}"/>
              </a:ext>
            </a:extLst>
          </p:cNvPr>
          <p:cNvSpPr>
            <a:spLocks noGrp="1"/>
          </p:cNvSpPr>
          <p:nvPr>
            <p:ph type="subTitle" idx="1"/>
          </p:nvPr>
        </p:nvSpPr>
        <p:spPr>
          <a:xfrm>
            <a:off x="2580068" y="3815690"/>
            <a:ext cx="8915399" cy="1126283"/>
          </a:xfrm>
        </p:spPr>
        <p:txBody>
          <a:bodyPr/>
          <a:lstStyle/>
          <a:p>
            <a:r>
              <a:rPr lang="en-US" dirty="0">
                <a:solidFill>
                  <a:schemeClr val="tx1"/>
                </a:solidFill>
              </a:rPr>
              <a:t>Analysis of sales performance, profitability, customer segments, product categories, and regional trends </a:t>
            </a:r>
          </a:p>
        </p:txBody>
      </p:sp>
      <p:sp>
        <p:nvSpPr>
          <p:cNvPr id="4" name="Subtitle 2">
            <a:extLst>
              <a:ext uri="{FF2B5EF4-FFF2-40B4-BE49-F238E27FC236}">
                <a16:creationId xmlns:a16="http://schemas.microsoft.com/office/drawing/2014/main" id="{1687185C-17E6-1B4B-C820-993A477F8351}"/>
              </a:ext>
            </a:extLst>
          </p:cNvPr>
          <p:cNvSpPr txBox="1">
            <a:spLocks/>
          </p:cNvSpPr>
          <p:nvPr/>
        </p:nvSpPr>
        <p:spPr>
          <a:xfrm>
            <a:off x="2580069" y="4564021"/>
            <a:ext cx="4524820" cy="382883"/>
          </a:xfrm>
          <a:prstGeom prst="rect">
            <a:avLst/>
          </a:prstGeom>
        </p:spPr>
        <p:txBody>
          <a:bodyPr vert="horz" lIns="91440" tIns="45720" rIns="91440" bIns="45720" rtlCol="0" anchor="t">
            <a:normAutofit fontScale="92500"/>
          </a:bodyPr>
          <a:lstStyle>
            <a:lvl1pPr marL="0" indent="0" algn="l" defTabSz="457200" rtl="0" eaLnBrk="1" latinLnBrk="0" hangingPunct="1">
              <a:spcBef>
                <a:spcPts val="1000"/>
              </a:spcBef>
              <a:spcAft>
                <a:spcPts val="0"/>
              </a:spcAft>
              <a:buClr>
                <a:schemeClr val="accent1"/>
              </a:buClr>
              <a:buFont typeface="Wingdings 3" charset="2"/>
              <a:buNone/>
              <a:defRPr sz="1800" kern="1200">
                <a:solidFill>
                  <a:schemeClr val="tx1">
                    <a:lumMod val="65000"/>
                    <a:lumOff val="35000"/>
                  </a:schemeClr>
                </a:solidFill>
                <a:latin typeface="+mn-lt"/>
                <a:ea typeface="+mn-ea"/>
                <a:cs typeface="+mn-cs"/>
              </a:defRPr>
            </a:lvl1pPr>
            <a:lvl2pPr marL="457200" indent="0" algn="ctr" defTabSz="457200" rtl="0" eaLnBrk="1" latinLnBrk="0" hangingPunct="1">
              <a:spcBef>
                <a:spcPts val="1000"/>
              </a:spcBef>
              <a:spcAft>
                <a:spcPts val="0"/>
              </a:spcAft>
              <a:buClr>
                <a:schemeClr val="accent1"/>
              </a:buClr>
              <a:buFont typeface="Wingdings 3"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ts val="1000"/>
              </a:spcBef>
              <a:spcAft>
                <a:spcPts val="0"/>
              </a:spcAft>
              <a:buClr>
                <a:schemeClr val="accent1"/>
              </a:buClr>
              <a:buFont typeface="Wingdings 3"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9pPr>
          </a:lstStyle>
          <a:p>
            <a:r>
              <a:rPr lang="en-US" b="1" dirty="0">
                <a:solidFill>
                  <a:schemeClr val="tx1"/>
                </a:solidFill>
              </a:rPr>
              <a:t>Presented by</a:t>
            </a:r>
            <a:r>
              <a:rPr lang="en-US" dirty="0">
                <a:solidFill>
                  <a:schemeClr val="tx1"/>
                </a:solidFill>
              </a:rPr>
              <a:t>: Aderogba Oluwapelumi S.</a:t>
            </a:r>
          </a:p>
        </p:txBody>
      </p:sp>
    </p:spTree>
    <p:extLst>
      <p:ext uri="{BB962C8B-B14F-4D97-AF65-F5344CB8AC3E}">
        <p14:creationId xmlns:p14="http://schemas.microsoft.com/office/powerpoint/2010/main" val="7784652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08B31-DBEA-395D-5B25-488C102C84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B359E5-ABAB-2C5F-1F97-9724CCF27353}"/>
              </a:ext>
            </a:extLst>
          </p:cNvPr>
          <p:cNvSpPr>
            <a:spLocks noGrp="1"/>
          </p:cNvSpPr>
          <p:nvPr>
            <p:ph type="ctrTitle"/>
          </p:nvPr>
        </p:nvSpPr>
        <p:spPr>
          <a:xfrm>
            <a:off x="2589213" y="201169"/>
            <a:ext cx="5704395" cy="1554480"/>
          </a:xfrm>
        </p:spPr>
        <p:txBody>
          <a:bodyPr>
            <a:normAutofit fontScale="90000"/>
          </a:bodyPr>
          <a:lstStyle/>
          <a:p>
            <a:r>
              <a:rPr lang="en-US" b="1" dirty="0">
                <a:solidFill>
                  <a:schemeClr val="tx1"/>
                </a:solidFill>
              </a:rPr>
              <a:t>Dataset Overview</a:t>
            </a:r>
            <a:br>
              <a:rPr lang="en-US" b="1" dirty="0">
                <a:solidFill>
                  <a:schemeClr val="tx1"/>
                </a:solidFill>
              </a:rPr>
            </a:br>
            <a:endParaRPr lang="en-US" b="1" dirty="0">
              <a:solidFill>
                <a:schemeClr val="tx1"/>
              </a:solidFill>
            </a:endParaRPr>
          </a:p>
        </p:txBody>
      </p:sp>
      <p:sp>
        <p:nvSpPr>
          <p:cNvPr id="3" name="Subtitle 2">
            <a:extLst>
              <a:ext uri="{FF2B5EF4-FFF2-40B4-BE49-F238E27FC236}">
                <a16:creationId xmlns:a16="http://schemas.microsoft.com/office/drawing/2014/main" id="{01D4584E-6CC7-9413-610F-901C89D5D68B}"/>
              </a:ext>
            </a:extLst>
          </p:cNvPr>
          <p:cNvSpPr>
            <a:spLocks noGrp="1"/>
          </p:cNvSpPr>
          <p:nvPr>
            <p:ph type="subTitle" idx="1"/>
          </p:nvPr>
        </p:nvSpPr>
        <p:spPr>
          <a:xfrm>
            <a:off x="2589212" y="1271017"/>
            <a:ext cx="8915399" cy="969263"/>
          </a:xfrm>
        </p:spPr>
        <p:txBody>
          <a:bodyPr>
            <a:normAutofit/>
          </a:bodyPr>
          <a:lstStyle/>
          <a:p>
            <a:r>
              <a:rPr lang="en-US" sz="1600" dirty="0">
                <a:solidFill>
                  <a:schemeClr val="tx1"/>
                </a:solidFill>
              </a:rPr>
              <a:t>The Superstore dataset contains retail transaction records including customer information, product details, sales, discounts, profits, shipping information, and regional data.</a:t>
            </a:r>
          </a:p>
          <a:p>
            <a:endParaRPr lang="en-US" dirty="0">
              <a:solidFill>
                <a:schemeClr val="tx1"/>
              </a:solidFill>
            </a:endParaRPr>
          </a:p>
          <a:p>
            <a:pPr marL="285750" indent="-285750">
              <a:buFont typeface="Arial" panose="020B0604020202020204" pitchFamily="34" charset="0"/>
              <a:buChar char="•"/>
            </a:pPr>
            <a:endParaRPr lang="en-US" dirty="0">
              <a:solidFill>
                <a:schemeClr val="tx1"/>
              </a:solidFill>
            </a:endParaRPr>
          </a:p>
        </p:txBody>
      </p:sp>
      <p:sp>
        <p:nvSpPr>
          <p:cNvPr id="4" name="Subtitle 2">
            <a:extLst>
              <a:ext uri="{FF2B5EF4-FFF2-40B4-BE49-F238E27FC236}">
                <a16:creationId xmlns:a16="http://schemas.microsoft.com/office/drawing/2014/main" id="{F784BBC7-6891-9F9B-FD9B-ECF3FFB5D298}"/>
              </a:ext>
            </a:extLst>
          </p:cNvPr>
          <p:cNvSpPr txBox="1">
            <a:spLocks/>
          </p:cNvSpPr>
          <p:nvPr/>
        </p:nvSpPr>
        <p:spPr>
          <a:xfrm>
            <a:off x="6391783" y="2407272"/>
            <a:ext cx="3211003" cy="3792359"/>
          </a:xfrm>
          <a:prstGeom prst="rect">
            <a:avLst/>
          </a:prstGeom>
        </p:spPr>
        <p:txBody>
          <a:bodyPr vert="horz" lIns="91440" tIns="45720" rIns="91440" bIns="45720" rtlCol="0" anchor="t">
            <a:normAutofit/>
          </a:bodyPr>
          <a:lstStyle>
            <a:lvl1pPr marL="0" indent="0" algn="l" defTabSz="457200" rtl="0" eaLnBrk="1" latinLnBrk="0" hangingPunct="1">
              <a:spcBef>
                <a:spcPts val="1000"/>
              </a:spcBef>
              <a:spcAft>
                <a:spcPts val="0"/>
              </a:spcAft>
              <a:buClr>
                <a:schemeClr val="accent1"/>
              </a:buClr>
              <a:buFont typeface="Wingdings 3" charset="2"/>
              <a:buNone/>
              <a:defRPr sz="1800" kern="1200">
                <a:solidFill>
                  <a:schemeClr val="tx1">
                    <a:lumMod val="65000"/>
                    <a:lumOff val="35000"/>
                  </a:schemeClr>
                </a:solidFill>
                <a:latin typeface="+mn-lt"/>
                <a:ea typeface="+mn-ea"/>
                <a:cs typeface="+mn-cs"/>
              </a:defRPr>
            </a:lvl1pPr>
            <a:lvl2pPr marL="457200" indent="0" algn="ctr" defTabSz="457200" rtl="0" eaLnBrk="1" latinLnBrk="0" hangingPunct="1">
              <a:spcBef>
                <a:spcPts val="1000"/>
              </a:spcBef>
              <a:spcAft>
                <a:spcPts val="0"/>
              </a:spcAft>
              <a:buClr>
                <a:schemeClr val="accent1"/>
              </a:buClr>
              <a:buFont typeface="Wingdings 3"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ts val="1000"/>
              </a:spcBef>
              <a:spcAft>
                <a:spcPts val="0"/>
              </a:spcAft>
              <a:buClr>
                <a:schemeClr val="accent1"/>
              </a:buClr>
              <a:buFont typeface="Wingdings 3"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9pPr>
          </a:lstStyle>
          <a:p>
            <a:r>
              <a:rPr lang="en-US" sz="1600" b="1" dirty="0">
                <a:solidFill>
                  <a:schemeClr val="tx1"/>
                </a:solidFill>
              </a:rPr>
              <a:t>Key Variables</a:t>
            </a:r>
          </a:p>
          <a:p>
            <a:r>
              <a:rPr lang="en-US" sz="1600" dirty="0">
                <a:solidFill>
                  <a:schemeClr val="tx1"/>
                </a:solidFill>
              </a:rPr>
              <a:t>Sales</a:t>
            </a:r>
          </a:p>
          <a:p>
            <a:r>
              <a:rPr lang="en-US" sz="1600" dirty="0">
                <a:solidFill>
                  <a:schemeClr val="tx1"/>
                </a:solidFill>
              </a:rPr>
              <a:t>Profit</a:t>
            </a:r>
          </a:p>
          <a:p>
            <a:r>
              <a:rPr lang="en-US" sz="1600" dirty="0">
                <a:solidFill>
                  <a:schemeClr val="tx1"/>
                </a:solidFill>
              </a:rPr>
              <a:t>Discount</a:t>
            </a:r>
          </a:p>
          <a:p>
            <a:r>
              <a:rPr lang="en-US" sz="1600" dirty="0">
                <a:solidFill>
                  <a:schemeClr val="tx1"/>
                </a:solidFill>
              </a:rPr>
              <a:t>Quantity</a:t>
            </a:r>
          </a:p>
          <a:p>
            <a:r>
              <a:rPr lang="en-US" sz="1600" dirty="0">
                <a:solidFill>
                  <a:schemeClr val="tx1"/>
                </a:solidFill>
              </a:rPr>
              <a:t>Region</a:t>
            </a:r>
          </a:p>
          <a:p>
            <a:r>
              <a:rPr lang="en-US" sz="1600" dirty="0">
                <a:solidFill>
                  <a:schemeClr val="tx1"/>
                </a:solidFill>
              </a:rPr>
              <a:t>Segment</a:t>
            </a:r>
          </a:p>
          <a:p>
            <a:r>
              <a:rPr lang="en-US" sz="1600" dirty="0">
                <a:solidFill>
                  <a:schemeClr val="tx1"/>
                </a:solidFill>
              </a:rPr>
              <a:t>Category</a:t>
            </a:r>
          </a:p>
          <a:p>
            <a:r>
              <a:rPr lang="en-US" sz="1600" dirty="0">
                <a:solidFill>
                  <a:schemeClr val="tx1"/>
                </a:solidFill>
              </a:rPr>
              <a:t>Sub-Category</a:t>
            </a:r>
          </a:p>
          <a:p>
            <a:endParaRPr lang="en-US" dirty="0">
              <a:solidFill>
                <a:schemeClr val="tx1"/>
              </a:solidFill>
            </a:endParaRPr>
          </a:p>
        </p:txBody>
      </p:sp>
      <p:sp>
        <p:nvSpPr>
          <p:cNvPr id="5" name="Subtitle 2">
            <a:extLst>
              <a:ext uri="{FF2B5EF4-FFF2-40B4-BE49-F238E27FC236}">
                <a16:creationId xmlns:a16="http://schemas.microsoft.com/office/drawing/2014/main" id="{D730CDB3-C01B-8E56-D4F0-33DD79023713}"/>
              </a:ext>
            </a:extLst>
          </p:cNvPr>
          <p:cNvSpPr txBox="1">
            <a:spLocks/>
          </p:cNvSpPr>
          <p:nvPr/>
        </p:nvSpPr>
        <p:spPr>
          <a:xfrm>
            <a:off x="2589212" y="2407274"/>
            <a:ext cx="3506788" cy="2890154"/>
          </a:xfrm>
          <a:prstGeom prst="rect">
            <a:avLst/>
          </a:prstGeom>
        </p:spPr>
        <p:txBody>
          <a:bodyPr vert="horz" lIns="91440" tIns="45720" rIns="91440" bIns="45720" rtlCol="0" anchor="t">
            <a:normAutofit fontScale="92500" lnSpcReduction="10000"/>
          </a:bodyPr>
          <a:lstStyle>
            <a:lvl1pPr marL="0" indent="0" algn="l" defTabSz="457200" rtl="0" eaLnBrk="1" latinLnBrk="0" hangingPunct="1">
              <a:spcBef>
                <a:spcPts val="1000"/>
              </a:spcBef>
              <a:spcAft>
                <a:spcPts val="0"/>
              </a:spcAft>
              <a:buClr>
                <a:schemeClr val="accent1"/>
              </a:buClr>
              <a:buFont typeface="Wingdings 3" charset="2"/>
              <a:buNone/>
              <a:defRPr sz="1800" kern="1200">
                <a:solidFill>
                  <a:schemeClr val="tx1">
                    <a:lumMod val="65000"/>
                    <a:lumOff val="35000"/>
                  </a:schemeClr>
                </a:solidFill>
                <a:latin typeface="+mn-lt"/>
                <a:ea typeface="+mn-ea"/>
                <a:cs typeface="+mn-cs"/>
              </a:defRPr>
            </a:lvl1pPr>
            <a:lvl2pPr marL="457200" indent="0" algn="ctr" defTabSz="457200" rtl="0" eaLnBrk="1" latinLnBrk="0" hangingPunct="1">
              <a:spcBef>
                <a:spcPts val="1000"/>
              </a:spcBef>
              <a:spcAft>
                <a:spcPts val="0"/>
              </a:spcAft>
              <a:buClr>
                <a:schemeClr val="accent1"/>
              </a:buClr>
              <a:buFont typeface="Wingdings 3"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ts val="1000"/>
              </a:spcBef>
              <a:spcAft>
                <a:spcPts val="0"/>
              </a:spcAft>
              <a:buClr>
                <a:schemeClr val="accent1"/>
              </a:buClr>
              <a:buFont typeface="Wingdings 3"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9pPr>
          </a:lstStyle>
          <a:p>
            <a:r>
              <a:rPr lang="en-US" sz="1700" b="1" dirty="0">
                <a:solidFill>
                  <a:schemeClr val="tx1"/>
                </a:solidFill>
              </a:rPr>
              <a:t>Dataset Features</a:t>
            </a:r>
          </a:p>
          <a:p>
            <a:r>
              <a:rPr lang="en-US" sz="1700" dirty="0">
                <a:solidFill>
                  <a:schemeClr val="tx1"/>
                </a:solidFill>
              </a:rPr>
              <a:t>Rows: 9,994</a:t>
            </a:r>
          </a:p>
          <a:p>
            <a:r>
              <a:rPr lang="en-US" sz="1700" dirty="0">
                <a:solidFill>
                  <a:schemeClr val="tx1"/>
                </a:solidFill>
              </a:rPr>
              <a:t>Columns:21</a:t>
            </a:r>
          </a:p>
          <a:p>
            <a:r>
              <a:rPr lang="en-US" sz="1700" dirty="0">
                <a:solidFill>
                  <a:schemeClr val="tx1"/>
                </a:solidFill>
              </a:rPr>
              <a:t>Order Information</a:t>
            </a:r>
          </a:p>
          <a:p>
            <a:r>
              <a:rPr lang="en-US" sz="1700" dirty="0">
                <a:solidFill>
                  <a:schemeClr val="tx1"/>
                </a:solidFill>
              </a:rPr>
              <a:t>Customer Information</a:t>
            </a:r>
          </a:p>
          <a:p>
            <a:r>
              <a:rPr lang="en-US" sz="1700" dirty="0">
                <a:solidFill>
                  <a:schemeClr val="tx1"/>
                </a:solidFill>
              </a:rPr>
              <a:t>Product Information</a:t>
            </a:r>
          </a:p>
          <a:p>
            <a:r>
              <a:rPr lang="en-US" sz="1700" dirty="0">
                <a:solidFill>
                  <a:schemeClr val="tx1"/>
                </a:solidFill>
              </a:rPr>
              <a:t>Geographic Information</a:t>
            </a:r>
          </a:p>
          <a:p>
            <a:r>
              <a:rPr lang="en-US" sz="1700" dirty="0">
                <a:solidFill>
                  <a:schemeClr val="tx1"/>
                </a:solidFill>
              </a:rPr>
              <a:t>Sales and Profit Metrics</a:t>
            </a:r>
          </a:p>
          <a:p>
            <a:endParaRPr lang="en-US" dirty="0">
              <a:solidFill>
                <a:schemeClr val="tx1"/>
              </a:solidFill>
            </a:endParaRPr>
          </a:p>
        </p:txBody>
      </p:sp>
    </p:spTree>
    <p:extLst>
      <p:ext uri="{BB962C8B-B14F-4D97-AF65-F5344CB8AC3E}">
        <p14:creationId xmlns:p14="http://schemas.microsoft.com/office/powerpoint/2010/main" val="31365144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0A6303-0748-B61A-BBB5-4930BCB013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68C463-DA7E-168A-6900-4CD5FD3C483E}"/>
              </a:ext>
            </a:extLst>
          </p:cNvPr>
          <p:cNvSpPr>
            <a:spLocks noGrp="1"/>
          </p:cNvSpPr>
          <p:nvPr>
            <p:ph type="ctrTitle"/>
          </p:nvPr>
        </p:nvSpPr>
        <p:spPr>
          <a:xfrm>
            <a:off x="2589213" y="676657"/>
            <a:ext cx="5704395" cy="1554480"/>
          </a:xfrm>
        </p:spPr>
        <p:txBody>
          <a:bodyPr>
            <a:normAutofit fontScale="90000"/>
          </a:bodyPr>
          <a:lstStyle/>
          <a:p>
            <a:r>
              <a:rPr lang="en-US" b="1" dirty="0">
                <a:solidFill>
                  <a:schemeClr val="tx1"/>
                </a:solidFill>
              </a:rPr>
              <a:t>Business Problem</a:t>
            </a:r>
            <a:br>
              <a:rPr lang="en-US" b="1" dirty="0">
                <a:solidFill>
                  <a:schemeClr val="tx1"/>
                </a:solidFill>
              </a:rPr>
            </a:br>
            <a:endParaRPr lang="en-US" b="1" dirty="0">
              <a:solidFill>
                <a:schemeClr val="tx1"/>
              </a:solidFill>
            </a:endParaRPr>
          </a:p>
        </p:txBody>
      </p:sp>
      <p:sp>
        <p:nvSpPr>
          <p:cNvPr id="3" name="Subtitle 2">
            <a:extLst>
              <a:ext uri="{FF2B5EF4-FFF2-40B4-BE49-F238E27FC236}">
                <a16:creationId xmlns:a16="http://schemas.microsoft.com/office/drawing/2014/main" id="{F44F08DA-56B1-5F9C-62A3-B7484E59E239}"/>
              </a:ext>
            </a:extLst>
          </p:cNvPr>
          <p:cNvSpPr>
            <a:spLocks noGrp="1"/>
          </p:cNvSpPr>
          <p:nvPr>
            <p:ph type="subTitle" idx="1"/>
          </p:nvPr>
        </p:nvSpPr>
        <p:spPr>
          <a:xfrm>
            <a:off x="2589213" y="1815087"/>
            <a:ext cx="8915399" cy="969263"/>
          </a:xfrm>
        </p:spPr>
        <p:txBody>
          <a:bodyPr>
            <a:normAutofit/>
          </a:bodyPr>
          <a:lstStyle/>
          <a:p>
            <a:r>
              <a:rPr lang="en-US" sz="1600" b="1" dirty="0">
                <a:solidFill>
                  <a:schemeClr val="tx1"/>
                </a:solidFill>
              </a:rPr>
              <a:t>Objective:</a:t>
            </a:r>
          </a:p>
          <a:p>
            <a:r>
              <a:rPr lang="en-US" sz="1600" dirty="0">
                <a:solidFill>
                  <a:schemeClr val="tx1"/>
                </a:solidFill>
              </a:rPr>
              <a:t>The goal of this project was to analyze retail sales performance and identify factors influencing profitability across products, customer segments, regions, and discount levels</a:t>
            </a:r>
          </a:p>
          <a:p>
            <a:pPr marL="285750" indent="-285750">
              <a:buFont typeface="Arial" panose="020B0604020202020204" pitchFamily="34" charset="0"/>
              <a:buChar char="•"/>
            </a:pPr>
            <a:endParaRPr lang="en-US" dirty="0">
              <a:solidFill>
                <a:schemeClr val="tx1"/>
              </a:solidFill>
            </a:endParaRPr>
          </a:p>
        </p:txBody>
      </p:sp>
      <p:sp>
        <p:nvSpPr>
          <p:cNvPr id="5" name="Subtitle 2">
            <a:extLst>
              <a:ext uri="{FF2B5EF4-FFF2-40B4-BE49-F238E27FC236}">
                <a16:creationId xmlns:a16="http://schemas.microsoft.com/office/drawing/2014/main" id="{A4D58060-1C3A-97BB-0A50-294363164C15}"/>
              </a:ext>
            </a:extLst>
          </p:cNvPr>
          <p:cNvSpPr txBox="1">
            <a:spLocks/>
          </p:cNvSpPr>
          <p:nvPr/>
        </p:nvSpPr>
        <p:spPr>
          <a:xfrm>
            <a:off x="2589213" y="3099052"/>
            <a:ext cx="8915399" cy="2295907"/>
          </a:xfrm>
          <a:prstGeom prst="rect">
            <a:avLst/>
          </a:prstGeom>
        </p:spPr>
        <p:txBody>
          <a:bodyPr vert="horz" lIns="91440" tIns="45720" rIns="91440" bIns="45720" rtlCol="0" anchor="t">
            <a:normAutofit/>
          </a:bodyPr>
          <a:lstStyle>
            <a:lvl1pPr marL="0" indent="0" algn="l" defTabSz="457200" rtl="0" eaLnBrk="1" latinLnBrk="0" hangingPunct="1">
              <a:spcBef>
                <a:spcPts val="1000"/>
              </a:spcBef>
              <a:spcAft>
                <a:spcPts val="0"/>
              </a:spcAft>
              <a:buClr>
                <a:schemeClr val="accent1"/>
              </a:buClr>
              <a:buFont typeface="Wingdings 3" charset="2"/>
              <a:buNone/>
              <a:defRPr sz="1800" kern="1200">
                <a:solidFill>
                  <a:schemeClr val="tx1">
                    <a:lumMod val="65000"/>
                    <a:lumOff val="35000"/>
                  </a:schemeClr>
                </a:solidFill>
                <a:latin typeface="+mn-lt"/>
                <a:ea typeface="+mn-ea"/>
                <a:cs typeface="+mn-cs"/>
              </a:defRPr>
            </a:lvl1pPr>
            <a:lvl2pPr marL="457200" indent="0" algn="ctr" defTabSz="457200" rtl="0" eaLnBrk="1" latinLnBrk="0" hangingPunct="1">
              <a:spcBef>
                <a:spcPts val="1000"/>
              </a:spcBef>
              <a:spcAft>
                <a:spcPts val="0"/>
              </a:spcAft>
              <a:buClr>
                <a:schemeClr val="accent1"/>
              </a:buClr>
              <a:buFont typeface="Wingdings 3"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ts val="1000"/>
              </a:spcBef>
              <a:spcAft>
                <a:spcPts val="0"/>
              </a:spcAft>
              <a:buClr>
                <a:schemeClr val="accent1"/>
              </a:buClr>
              <a:buFont typeface="Wingdings 3"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9pPr>
          </a:lstStyle>
          <a:p>
            <a:r>
              <a:rPr lang="en-US" sz="1600" b="1" dirty="0">
                <a:solidFill>
                  <a:schemeClr val="tx1"/>
                </a:solidFill>
              </a:rPr>
              <a:t>Key Questions</a:t>
            </a:r>
          </a:p>
          <a:p>
            <a:r>
              <a:rPr lang="en-US" sz="1600" dirty="0">
                <a:solidFill>
                  <a:schemeClr val="tx1"/>
                </a:solidFill>
              </a:rPr>
              <a:t>Which regions generate the highest sales and profit?</a:t>
            </a:r>
          </a:p>
          <a:p>
            <a:r>
              <a:rPr lang="en-US" sz="1600" dirty="0">
                <a:solidFill>
                  <a:schemeClr val="tx1"/>
                </a:solidFill>
              </a:rPr>
              <a:t>Which products contribute most to revenue?</a:t>
            </a:r>
          </a:p>
          <a:p>
            <a:r>
              <a:rPr lang="en-US" sz="1600" dirty="0">
                <a:solidFill>
                  <a:schemeClr val="tx1"/>
                </a:solidFill>
              </a:rPr>
              <a:t>How do discounts affect profitability?</a:t>
            </a:r>
          </a:p>
          <a:p>
            <a:r>
              <a:rPr lang="en-US" sz="1600" dirty="0">
                <a:solidFill>
                  <a:schemeClr val="tx1"/>
                </a:solidFill>
              </a:rPr>
              <a:t>Which customer segments drive business performance?</a:t>
            </a:r>
          </a:p>
          <a:p>
            <a:r>
              <a:rPr lang="en-US" sz="1600" dirty="0">
                <a:solidFill>
                  <a:schemeClr val="tx1"/>
                </a:solidFill>
              </a:rPr>
              <a:t>What opportunities exist to improve profitability?</a:t>
            </a:r>
          </a:p>
        </p:txBody>
      </p:sp>
    </p:spTree>
    <p:extLst>
      <p:ext uri="{BB962C8B-B14F-4D97-AF65-F5344CB8AC3E}">
        <p14:creationId xmlns:p14="http://schemas.microsoft.com/office/powerpoint/2010/main" val="10630916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7CEA26-7F6F-2844-A96D-68B8632F17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C1B31E-A94E-9AA1-1B28-55EFD3902C20}"/>
              </a:ext>
            </a:extLst>
          </p:cNvPr>
          <p:cNvSpPr>
            <a:spLocks noGrp="1"/>
          </p:cNvSpPr>
          <p:nvPr>
            <p:ph type="ctrTitle"/>
          </p:nvPr>
        </p:nvSpPr>
        <p:spPr>
          <a:xfrm>
            <a:off x="2589213" y="374903"/>
            <a:ext cx="8136699" cy="800103"/>
          </a:xfrm>
        </p:spPr>
        <p:txBody>
          <a:bodyPr>
            <a:normAutofit fontScale="90000"/>
          </a:bodyPr>
          <a:lstStyle/>
          <a:p>
            <a:r>
              <a:rPr lang="en-US" sz="4800" b="1" dirty="0">
                <a:solidFill>
                  <a:schemeClr val="tx1"/>
                </a:solidFill>
              </a:rPr>
              <a:t>Data Preparation &amp; KPIs</a:t>
            </a:r>
          </a:p>
        </p:txBody>
      </p:sp>
      <p:sp>
        <p:nvSpPr>
          <p:cNvPr id="5" name="Subtitle 2">
            <a:extLst>
              <a:ext uri="{FF2B5EF4-FFF2-40B4-BE49-F238E27FC236}">
                <a16:creationId xmlns:a16="http://schemas.microsoft.com/office/drawing/2014/main" id="{98FE0AE4-B27A-2128-70FF-45040914DFDD}"/>
              </a:ext>
            </a:extLst>
          </p:cNvPr>
          <p:cNvSpPr txBox="1">
            <a:spLocks/>
          </p:cNvSpPr>
          <p:nvPr/>
        </p:nvSpPr>
        <p:spPr>
          <a:xfrm>
            <a:off x="2589212" y="1345691"/>
            <a:ext cx="8915399" cy="2670812"/>
          </a:xfrm>
          <a:prstGeom prst="rect">
            <a:avLst/>
          </a:prstGeom>
        </p:spPr>
        <p:txBody>
          <a:bodyPr vert="horz" lIns="91440" tIns="45720" rIns="91440" bIns="45720" rtlCol="0" anchor="t">
            <a:normAutofit/>
          </a:bodyPr>
          <a:lstStyle>
            <a:lvl1pPr marL="0" indent="0" algn="l" defTabSz="457200" rtl="0" eaLnBrk="1" latinLnBrk="0" hangingPunct="1">
              <a:spcBef>
                <a:spcPts val="1000"/>
              </a:spcBef>
              <a:spcAft>
                <a:spcPts val="0"/>
              </a:spcAft>
              <a:buClr>
                <a:schemeClr val="accent1"/>
              </a:buClr>
              <a:buFont typeface="Wingdings 3" charset="2"/>
              <a:buNone/>
              <a:defRPr sz="1800" kern="1200">
                <a:solidFill>
                  <a:schemeClr val="tx1">
                    <a:lumMod val="65000"/>
                    <a:lumOff val="35000"/>
                  </a:schemeClr>
                </a:solidFill>
                <a:latin typeface="+mn-lt"/>
                <a:ea typeface="+mn-ea"/>
                <a:cs typeface="+mn-cs"/>
              </a:defRPr>
            </a:lvl1pPr>
            <a:lvl2pPr marL="457200" indent="0" algn="ctr" defTabSz="457200" rtl="0" eaLnBrk="1" latinLnBrk="0" hangingPunct="1">
              <a:spcBef>
                <a:spcPts val="1000"/>
              </a:spcBef>
              <a:spcAft>
                <a:spcPts val="0"/>
              </a:spcAft>
              <a:buClr>
                <a:schemeClr val="accent1"/>
              </a:buClr>
              <a:buFont typeface="Wingdings 3"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ts val="1000"/>
              </a:spcBef>
              <a:spcAft>
                <a:spcPts val="0"/>
              </a:spcAft>
              <a:buClr>
                <a:schemeClr val="accent1"/>
              </a:buClr>
              <a:buFont typeface="Wingdings 3"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9pPr>
          </a:lstStyle>
          <a:p>
            <a:r>
              <a:rPr lang="en-US" sz="1600" b="1" dirty="0">
                <a:solidFill>
                  <a:schemeClr val="tx1"/>
                </a:solidFill>
              </a:rPr>
              <a:t>Data Preparation</a:t>
            </a:r>
          </a:p>
          <a:p>
            <a:r>
              <a:rPr lang="en-US" sz="1600" dirty="0">
                <a:solidFill>
                  <a:schemeClr val="tx1"/>
                </a:solidFill>
              </a:rPr>
              <a:t>Converted Order Date and Ship Date to datetime format</a:t>
            </a:r>
          </a:p>
          <a:p>
            <a:r>
              <a:rPr lang="en-US" sz="1600" dirty="0">
                <a:solidFill>
                  <a:schemeClr val="tx1"/>
                </a:solidFill>
              </a:rPr>
              <a:t>Created Order Year, Month, and Quarter fields</a:t>
            </a:r>
          </a:p>
          <a:p>
            <a:r>
              <a:rPr lang="en-US" sz="1600" dirty="0">
                <a:solidFill>
                  <a:schemeClr val="tx1"/>
                </a:solidFill>
              </a:rPr>
              <a:t>Calculated Shipping Days</a:t>
            </a:r>
          </a:p>
          <a:p>
            <a:r>
              <a:rPr lang="en-US" sz="1600" dirty="0">
                <a:solidFill>
                  <a:schemeClr val="tx1"/>
                </a:solidFill>
              </a:rPr>
              <a:t>Created Profit Margin %</a:t>
            </a:r>
          </a:p>
          <a:p>
            <a:r>
              <a:rPr lang="en-US" sz="1600" dirty="0">
                <a:solidFill>
                  <a:schemeClr val="tx1"/>
                </a:solidFill>
              </a:rPr>
              <a:t>Classified transactions as Profitable or Loss-Making</a:t>
            </a:r>
          </a:p>
          <a:p>
            <a:r>
              <a:rPr lang="en-US" sz="1600" dirty="0">
                <a:solidFill>
                  <a:schemeClr val="tx1"/>
                </a:solidFill>
              </a:rPr>
              <a:t>Exported a BI-ready dataset for Power BI</a:t>
            </a:r>
          </a:p>
          <a:p>
            <a:endParaRPr lang="en-US" sz="1600" b="1" dirty="0">
              <a:solidFill>
                <a:schemeClr val="tx1"/>
              </a:solidFill>
            </a:endParaRPr>
          </a:p>
        </p:txBody>
      </p:sp>
      <p:sp>
        <p:nvSpPr>
          <p:cNvPr id="7" name="Subtitle 2">
            <a:extLst>
              <a:ext uri="{FF2B5EF4-FFF2-40B4-BE49-F238E27FC236}">
                <a16:creationId xmlns:a16="http://schemas.microsoft.com/office/drawing/2014/main" id="{532BD4E8-A259-7A60-56FA-1C5BD8460C8E}"/>
              </a:ext>
            </a:extLst>
          </p:cNvPr>
          <p:cNvSpPr txBox="1">
            <a:spLocks/>
          </p:cNvSpPr>
          <p:nvPr/>
        </p:nvSpPr>
        <p:spPr>
          <a:xfrm>
            <a:off x="2589212" y="4187188"/>
            <a:ext cx="8915399" cy="2670812"/>
          </a:xfrm>
          <a:prstGeom prst="rect">
            <a:avLst/>
          </a:prstGeom>
        </p:spPr>
        <p:txBody>
          <a:bodyPr vert="horz" lIns="91440" tIns="45720" rIns="91440" bIns="45720" rtlCol="0" anchor="t">
            <a:normAutofit/>
          </a:bodyPr>
          <a:lstStyle>
            <a:lvl1pPr marL="0" indent="0" algn="l" defTabSz="457200" rtl="0" eaLnBrk="1" latinLnBrk="0" hangingPunct="1">
              <a:spcBef>
                <a:spcPts val="1000"/>
              </a:spcBef>
              <a:spcAft>
                <a:spcPts val="0"/>
              </a:spcAft>
              <a:buClr>
                <a:schemeClr val="accent1"/>
              </a:buClr>
              <a:buFont typeface="Wingdings 3" charset="2"/>
              <a:buNone/>
              <a:defRPr sz="1800" kern="1200">
                <a:solidFill>
                  <a:schemeClr val="tx1">
                    <a:lumMod val="65000"/>
                    <a:lumOff val="35000"/>
                  </a:schemeClr>
                </a:solidFill>
                <a:latin typeface="+mn-lt"/>
                <a:ea typeface="+mn-ea"/>
                <a:cs typeface="+mn-cs"/>
              </a:defRPr>
            </a:lvl1pPr>
            <a:lvl2pPr marL="457200" indent="0" algn="ctr" defTabSz="457200" rtl="0" eaLnBrk="1" latinLnBrk="0" hangingPunct="1">
              <a:spcBef>
                <a:spcPts val="1000"/>
              </a:spcBef>
              <a:spcAft>
                <a:spcPts val="0"/>
              </a:spcAft>
              <a:buClr>
                <a:schemeClr val="accent1"/>
              </a:buClr>
              <a:buFont typeface="Wingdings 3"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ts val="1000"/>
              </a:spcBef>
              <a:spcAft>
                <a:spcPts val="0"/>
              </a:spcAft>
              <a:buClr>
                <a:schemeClr val="accent1"/>
              </a:buClr>
              <a:buFont typeface="Wingdings 3"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9pPr>
          </a:lstStyle>
          <a:p>
            <a:r>
              <a:rPr lang="en-US" sz="1600" b="1" dirty="0">
                <a:solidFill>
                  <a:schemeClr val="tx1"/>
                </a:solidFill>
              </a:rPr>
              <a:t>KPIs</a:t>
            </a:r>
          </a:p>
          <a:p>
            <a:r>
              <a:rPr lang="en-US" sz="1600" dirty="0">
                <a:solidFill>
                  <a:schemeClr val="tx1"/>
                </a:solidFill>
              </a:rPr>
              <a:t>Total Sales</a:t>
            </a:r>
          </a:p>
          <a:p>
            <a:r>
              <a:rPr lang="en-US" sz="1600" dirty="0">
                <a:solidFill>
                  <a:schemeClr val="tx1"/>
                </a:solidFill>
              </a:rPr>
              <a:t>Total Profit</a:t>
            </a:r>
          </a:p>
          <a:p>
            <a:r>
              <a:rPr lang="en-US" sz="1600" dirty="0">
                <a:solidFill>
                  <a:schemeClr val="tx1"/>
                </a:solidFill>
              </a:rPr>
              <a:t>Total Orders</a:t>
            </a:r>
          </a:p>
          <a:p>
            <a:r>
              <a:rPr lang="en-US" sz="1600" dirty="0">
                <a:solidFill>
                  <a:schemeClr val="tx1"/>
                </a:solidFill>
              </a:rPr>
              <a:t>Total Customers</a:t>
            </a:r>
          </a:p>
          <a:p>
            <a:r>
              <a:rPr lang="en-US" sz="1600" dirty="0">
                <a:solidFill>
                  <a:schemeClr val="tx1"/>
                </a:solidFill>
              </a:rPr>
              <a:t>Total Quantity Sold</a:t>
            </a:r>
          </a:p>
          <a:p>
            <a:r>
              <a:rPr lang="en-US" sz="1600" dirty="0">
                <a:solidFill>
                  <a:schemeClr val="tx1"/>
                </a:solidFill>
              </a:rPr>
              <a:t>Profit Margin %</a:t>
            </a:r>
          </a:p>
          <a:p>
            <a:endParaRPr lang="en-US" sz="1600" b="1" dirty="0">
              <a:solidFill>
                <a:schemeClr val="tx1"/>
              </a:solidFill>
            </a:endParaRPr>
          </a:p>
        </p:txBody>
      </p:sp>
    </p:spTree>
    <p:extLst>
      <p:ext uri="{BB962C8B-B14F-4D97-AF65-F5344CB8AC3E}">
        <p14:creationId xmlns:p14="http://schemas.microsoft.com/office/powerpoint/2010/main" val="28331419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E4F270-5AE9-A053-8406-849DE7D195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87FB10-FB95-8936-ACB9-EAD8F022B10C}"/>
              </a:ext>
            </a:extLst>
          </p:cNvPr>
          <p:cNvSpPr>
            <a:spLocks noGrp="1"/>
          </p:cNvSpPr>
          <p:nvPr>
            <p:ph type="ctrTitle"/>
          </p:nvPr>
        </p:nvSpPr>
        <p:spPr>
          <a:xfrm>
            <a:off x="2589213" y="374903"/>
            <a:ext cx="8136699" cy="800103"/>
          </a:xfrm>
        </p:spPr>
        <p:txBody>
          <a:bodyPr>
            <a:normAutofit fontScale="90000"/>
          </a:bodyPr>
          <a:lstStyle/>
          <a:p>
            <a:r>
              <a:rPr lang="en-US" sz="4800" b="1" dirty="0">
                <a:solidFill>
                  <a:schemeClr val="tx1"/>
                </a:solidFill>
              </a:rPr>
              <a:t>Dashboard Overview</a:t>
            </a:r>
          </a:p>
        </p:txBody>
      </p:sp>
      <p:pic>
        <p:nvPicPr>
          <p:cNvPr id="4" name="Picture 3">
            <a:extLst>
              <a:ext uri="{FF2B5EF4-FFF2-40B4-BE49-F238E27FC236}">
                <a16:creationId xmlns:a16="http://schemas.microsoft.com/office/drawing/2014/main" id="{9D345440-376F-5384-79B1-769AEF0A843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95319" y="1618488"/>
            <a:ext cx="8130593" cy="4562857"/>
          </a:xfrm>
          <a:prstGeom prst="rect">
            <a:avLst/>
          </a:prstGeom>
        </p:spPr>
      </p:pic>
    </p:spTree>
    <p:extLst>
      <p:ext uri="{BB962C8B-B14F-4D97-AF65-F5344CB8AC3E}">
        <p14:creationId xmlns:p14="http://schemas.microsoft.com/office/powerpoint/2010/main" val="25253878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906350-C0B9-E1C7-8109-D094AAEBD3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CDB0A4-3CB4-5857-B6AE-6FF1E6AAD159}"/>
              </a:ext>
            </a:extLst>
          </p:cNvPr>
          <p:cNvSpPr>
            <a:spLocks noGrp="1"/>
          </p:cNvSpPr>
          <p:nvPr>
            <p:ph type="ctrTitle"/>
          </p:nvPr>
        </p:nvSpPr>
        <p:spPr>
          <a:xfrm>
            <a:off x="2589213" y="374903"/>
            <a:ext cx="8136699" cy="800103"/>
          </a:xfrm>
        </p:spPr>
        <p:txBody>
          <a:bodyPr>
            <a:normAutofit fontScale="90000"/>
          </a:bodyPr>
          <a:lstStyle/>
          <a:p>
            <a:r>
              <a:rPr lang="en-US" sz="4800" b="1" dirty="0">
                <a:solidFill>
                  <a:schemeClr val="tx1"/>
                </a:solidFill>
              </a:rPr>
              <a:t>Key Insights</a:t>
            </a:r>
          </a:p>
        </p:txBody>
      </p:sp>
      <p:sp>
        <p:nvSpPr>
          <p:cNvPr id="5" name="Subtitle 2">
            <a:extLst>
              <a:ext uri="{FF2B5EF4-FFF2-40B4-BE49-F238E27FC236}">
                <a16:creationId xmlns:a16="http://schemas.microsoft.com/office/drawing/2014/main" id="{250C4ABC-419F-EF8B-E40F-5FC4A04E09C1}"/>
              </a:ext>
            </a:extLst>
          </p:cNvPr>
          <p:cNvSpPr txBox="1">
            <a:spLocks/>
          </p:cNvSpPr>
          <p:nvPr/>
        </p:nvSpPr>
        <p:spPr>
          <a:xfrm>
            <a:off x="2589213" y="1491995"/>
            <a:ext cx="8915399" cy="5137405"/>
          </a:xfrm>
          <a:prstGeom prst="rect">
            <a:avLst/>
          </a:prstGeom>
        </p:spPr>
        <p:txBody>
          <a:bodyPr vert="horz" lIns="91440" tIns="45720" rIns="91440" bIns="45720" rtlCol="0" anchor="t">
            <a:normAutofit fontScale="92500"/>
          </a:bodyPr>
          <a:lstStyle>
            <a:lvl1pPr marL="0" indent="0" algn="l" defTabSz="457200" rtl="0" eaLnBrk="1" latinLnBrk="0" hangingPunct="1">
              <a:spcBef>
                <a:spcPts val="1000"/>
              </a:spcBef>
              <a:spcAft>
                <a:spcPts val="0"/>
              </a:spcAft>
              <a:buClr>
                <a:schemeClr val="accent1"/>
              </a:buClr>
              <a:buFont typeface="Wingdings 3" charset="2"/>
              <a:buNone/>
              <a:defRPr sz="1800" kern="1200">
                <a:solidFill>
                  <a:schemeClr val="tx1">
                    <a:lumMod val="65000"/>
                    <a:lumOff val="35000"/>
                  </a:schemeClr>
                </a:solidFill>
                <a:latin typeface="+mn-lt"/>
                <a:ea typeface="+mn-ea"/>
                <a:cs typeface="+mn-cs"/>
              </a:defRPr>
            </a:lvl1pPr>
            <a:lvl2pPr marL="457200" indent="0" algn="ctr" defTabSz="457200" rtl="0" eaLnBrk="1" latinLnBrk="0" hangingPunct="1">
              <a:spcBef>
                <a:spcPts val="1000"/>
              </a:spcBef>
              <a:spcAft>
                <a:spcPts val="0"/>
              </a:spcAft>
              <a:buClr>
                <a:schemeClr val="accent1"/>
              </a:buClr>
              <a:buFont typeface="Wingdings 3"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ts val="1000"/>
              </a:spcBef>
              <a:spcAft>
                <a:spcPts val="0"/>
              </a:spcAft>
              <a:buClr>
                <a:schemeClr val="accent1"/>
              </a:buClr>
              <a:buFont typeface="Wingdings 3"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9pPr>
          </a:lstStyle>
          <a:p>
            <a:pPr marL="285750" indent="-285750">
              <a:buClr>
                <a:schemeClr val="tx1"/>
              </a:buClr>
              <a:buFont typeface="Arial" panose="020B0604020202020204" pitchFamily="34" charset="0"/>
              <a:buChar char="•"/>
            </a:pPr>
            <a:r>
              <a:rPr lang="en-US" dirty="0">
                <a:solidFill>
                  <a:schemeClr val="tx1"/>
                </a:solidFill>
              </a:rPr>
              <a:t>The business generated $2.3M in total sales, $286K in total profit, processed 5K orders, and served 793 customers.</a:t>
            </a:r>
          </a:p>
          <a:p>
            <a:pPr marL="285750" indent="-285750">
              <a:buClr>
                <a:schemeClr val="tx1"/>
              </a:buClr>
              <a:buFont typeface="Arial" panose="020B0604020202020204" pitchFamily="34" charset="0"/>
              <a:buChar char="•"/>
            </a:pPr>
            <a:r>
              <a:rPr lang="en-US" dirty="0">
                <a:solidFill>
                  <a:schemeClr val="tx1"/>
                </a:solidFill>
              </a:rPr>
              <a:t>Sales increased significantly toward the end of the year, with November recording the highest monthly sales ($352.2K), followed closely by December ($325.3K).</a:t>
            </a:r>
          </a:p>
          <a:p>
            <a:pPr marL="285750" indent="-285750">
              <a:buClr>
                <a:schemeClr val="tx1"/>
              </a:buClr>
              <a:buFont typeface="Arial" panose="020B0604020202020204" pitchFamily="34" charset="0"/>
              <a:buChar char="•"/>
            </a:pPr>
            <a:r>
              <a:rPr lang="en-US" dirty="0">
                <a:solidFill>
                  <a:schemeClr val="tx1"/>
                </a:solidFill>
              </a:rPr>
              <a:t>February recorded the lowest sales performance ($60K), suggesting weaker customer demand during the early part of the year.</a:t>
            </a:r>
          </a:p>
          <a:p>
            <a:pPr marL="285750" indent="-285750">
              <a:buClr>
                <a:schemeClr val="tx1"/>
              </a:buClr>
              <a:buFont typeface="Arial" panose="020B0604020202020204" pitchFamily="34" charset="0"/>
              <a:buChar char="•"/>
            </a:pPr>
            <a:r>
              <a:rPr lang="en-US" dirty="0">
                <a:solidFill>
                  <a:schemeClr val="tx1"/>
                </a:solidFill>
              </a:rPr>
              <a:t>Profitability declined as discount levels increased, with discounts above 30% generally resulting in negative average profits.</a:t>
            </a:r>
          </a:p>
          <a:p>
            <a:pPr marL="285750" indent="-285750">
              <a:buClr>
                <a:schemeClr val="tx1"/>
              </a:buClr>
              <a:buFont typeface="Arial" panose="020B0604020202020204" pitchFamily="34" charset="0"/>
              <a:buChar char="•"/>
            </a:pPr>
            <a:r>
              <a:rPr lang="en-US" dirty="0">
                <a:solidFill>
                  <a:schemeClr val="tx1"/>
                </a:solidFill>
              </a:rPr>
              <a:t>The West region generated the highest sales ($725.5K), followed by the East region ($678.8K), while the South region generated the lowest sales ($391.7K).</a:t>
            </a:r>
          </a:p>
          <a:p>
            <a:pPr marL="285750" indent="-285750">
              <a:buClr>
                <a:schemeClr val="tx1"/>
              </a:buClr>
              <a:buFont typeface="Arial" panose="020B0604020202020204" pitchFamily="34" charset="0"/>
              <a:buChar char="•"/>
            </a:pPr>
            <a:r>
              <a:rPr lang="en-US" dirty="0">
                <a:solidFill>
                  <a:schemeClr val="tx1"/>
                </a:solidFill>
              </a:rPr>
              <a:t>The Canon </a:t>
            </a:r>
            <a:r>
              <a:rPr lang="en-US" dirty="0" err="1">
                <a:solidFill>
                  <a:schemeClr val="tx1"/>
                </a:solidFill>
              </a:rPr>
              <a:t>imageCLASS</a:t>
            </a:r>
            <a:r>
              <a:rPr lang="en-US" dirty="0">
                <a:solidFill>
                  <a:schemeClr val="tx1"/>
                </a:solidFill>
              </a:rPr>
              <a:t> 2200 Advanced Copier was the top-selling product, generating approximately $61.6K in revenue, while technology and office equipment products dominated the highest-performing product list.</a:t>
            </a:r>
          </a:p>
          <a:p>
            <a:pPr marL="285750" indent="-285750">
              <a:buClr>
                <a:schemeClr val="tx1"/>
              </a:buClr>
              <a:buFont typeface="Arial" panose="020B0604020202020204" pitchFamily="34" charset="0"/>
              <a:buChar char="•"/>
            </a:pPr>
            <a:r>
              <a:rPr lang="en-US" dirty="0">
                <a:solidFill>
                  <a:schemeClr val="tx1"/>
                </a:solidFill>
              </a:rPr>
              <a:t>Standard Class shipping generated approximately $1.4M in sales, making it the most utilized shipping method by a significant margin.</a:t>
            </a:r>
          </a:p>
          <a:p>
            <a:endParaRPr lang="en-US" sz="1600" b="1" dirty="0">
              <a:solidFill>
                <a:schemeClr val="tx1"/>
              </a:solidFill>
            </a:endParaRPr>
          </a:p>
        </p:txBody>
      </p:sp>
    </p:spTree>
    <p:extLst>
      <p:ext uri="{BB962C8B-B14F-4D97-AF65-F5344CB8AC3E}">
        <p14:creationId xmlns:p14="http://schemas.microsoft.com/office/powerpoint/2010/main" val="4847634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C524CB-ADD4-2D2E-21AA-95F65934DE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127521-F2D2-86AF-3F96-683336A737A3}"/>
              </a:ext>
            </a:extLst>
          </p:cNvPr>
          <p:cNvSpPr>
            <a:spLocks noGrp="1"/>
          </p:cNvSpPr>
          <p:nvPr>
            <p:ph type="ctrTitle"/>
          </p:nvPr>
        </p:nvSpPr>
        <p:spPr>
          <a:xfrm>
            <a:off x="2589213" y="374903"/>
            <a:ext cx="8136699" cy="800103"/>
          </a:xfrm>
        </p:spPr>
        <p:txBody>
          <a:bodyPr>
            <a:normAutofit fontScale="90000"/>
          </a:bodyPr>
          <a:lstStyle/>
          <a:p>
            <a:r>
              <a:rPr lang="en-US" sz="4800" b="1" dirty="0">
                <a:solidFill>
                  <a:schemeClr val="tx1"/>
                </a:solidFill>
              </a:rPr>
              <a:t>Recommendations</a:t>
            </a:r>
          </a:p>
        </p:txBody>
      </p:sp>
      <p:sp>
        <p:nvSpPr>
          <p:cNvPr id="5" name="Subtitle 2">
            <a:extLst>
              <a:ext uri="{FF2B5EF4-FFF2-40B4-BE49-F238E27FC236}">
                <a16:creationId xmlns:a16="http://schemas.microsoft.com/office/drawing/2014/main" id="{FBDBB30D-08D1-2F6D-2600-4006281D49CA}"/>
              </a:ext>
            </a:extLst>
          </p:cNvPr>
          <p:cNvSpPr txBox="1">
            <a:spLocks/>
          </p:cNvSpPr>
          <p:nvPr/>
        </p:nvSpPr>
        <p:spPr>
          <a:xfrm>
            <a:off x="2589213" y="1537714"/>
            <a:ext cx="8915399" cy="5055109"/>
          </a:xfrm>
          <a:prstGeom prst="rect">
            <a:avLst/>
          </a:prstGeom>
        </p:spPr>
        <p:txBody>
          <a:bodyPr vert="horz" lIns="91440" tIns="45720" rIns="91440" bIns="45720" rtlCol="0" anchor="t">
            <a:normAutofit lnSpcReduction="10000"/>
          </a:bodyPr>
          <a:lstStyle>
            <a:lvl1pPr marL="0" indent="0" algn="l" defTabSz="457200" rtl="0" eaLnBrk="1" latinLnBrk="0" hangingPunct="1">
              <a:spcBef>
                <a:spcPts val="1000"/>
              </a:spcBef>
              <a:spcAft>
                <a:spcPts val="0"/>
              </a:spcAft>
              <a:buClr>
                <a:schemeClr val="accent1"/>
              </a:buClr>
              <a:buFont typeface="Wingdings 3" charset="2"/>
              <a:buNone/>
              <a:defRPr sz="1800" kern="1200">
                <a:solidFill>
                  <a:schemeClr val="tx1">
                    <a:lumMod val="65000"/>
                    <a:lumOff val="35000"/>
                  </a:schemeClr>
                </a:solidFill>
                <a:latin typeface="+mn-lt"/>
                <a:ea typeface="+mn-ea"/>
                <a:cs typeface="+mn-cs"/>
              </a:defRPr>
            </a:lvl1pPr>
            <a:lvl2pPr marL="457200" indent="0" algn="ctr" defTabSz="457200" rtl="0" eaLnBrk="1" latinLnBrk="0" hangingPunct="1">
              <a:spcBef>
                <a:spcPts val="1000"/>
              </a:spcBef>
              <a:spcAft>
                <a:spcPts val="0"/>
              </a:spcAft>
              <a:buClr>
                <a:schemeClr val="accent1"/>
              </a:buClr>
              <a:buFont typeface="Wingdings 3"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ts val="1000"/>
              </a:spcBef>
              <a:spcAft>
                <a:spcPts val="0"/>
              </a:spcAft>
              <a:buClr>
                <a:schemeClr val="accent1"/>
              </a:buClr>
              <a:buFont typeface="Wingdings 3"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9pPr>
          </a:lstStyle>
          <a:p>
            <a:pPr marL="285750" indent="-285750">
              <a:buClr>
                <a:schemeClr val="tx1"/>
              </a:buClr>
              <a:buFont typeface="Arial" panose="020B0604020202020204" pitchFamily="34" charset="0"/>
              <a:buChar char="•"/>
            </a:pPr>
            <a:r>
              <a:rPr lang="en-US" dirty="0">
                <a:solidFill>
                  <a:schemeClr val="tx1"/>
                </a:solidFill>
              </a:rPr>
              <a:t>Review and optimize discount strategies, particularly for discounts above 30%, as higher discount levels consistently reduced profitability and often resulted in losses. Campaigns should prioritize moderate discount levels that drive sales without significantly eroding profit margins.</a:t>
            </a:r>
          </a:p>
          <a:p>
            <a:pPr marL="285750" indent="-285750">
              <a:buClr>
                <a:schemeClr val="tx1"/>
              </a:buClr>
              <a:buFont typeface="Arial" panose="020B0604020202020204" pitchFamily="34" charset="0"/>
              <a:buChar char="•"/>
            </a:pPr>
            <a:r>
              <a:rPr lang="en-US" dirty="0">
                <a:solidFill>
                  <a:schemeClr val="tx1"/>
                </a:solidFill>
              </a:rPr>
              <a:t>Increase investment in high-performing regions, particularly the West and East regions, through targeted marketing campaigns and customer retention initiatives to maximize revenue growth in the strongest markets.</a:t>
            </a:r>
          </a:p>
          <a:p>
            <a:pPr marL="285750" indent="-285750">
              <a:buClr>
                <a:schemeClr val="tx1"/>
              </a:buClr>
              <a:buFont typeface="Arial" panose="020B0604020202020204" pitchFamily="34" charset="0"/>
              <a:buChar char="•"/>
            </a:pPr>
            <a:r>
              <a:rPr lang="en-US" dirty="0">
                <a:solidFill>
                  <a:schemeClr val="tx1"/>
                </a:solidFill>
              </a:rPr>
              <a:t>Develop improvement strategies for underperforming regions, especially the South region, by investigating factors such as customer demand, product availability, pricing, and competition that may be limiting sales performance.</a:t>
            </a:r>
          </a:p>
          <a:p>
            <a:pPr marL="285750" indent="-285750">
              <a:buClr>
                <a:schemeClr val="tx1"/>
              </a:buClr>
              <a:buFont typeface="Arial" panose="020B0604020202020204" pitchFamily="34" charset="0"/>
              <a:buChar char="•"/>
            </a:pPr>
            <a:r>
              <a:rPr lang="en-US" dirty="0">
                <a:solidFill>
                  <a:schemeClr val="tx1"/>
                </a:solidFill>
              </a:rPr>
              <a:t>Prioritize inventory and promotional efforts for top-performing products such as the Canon </a:t>
            </a:r>
            <a:r>
              <a:rPr lang="en-US" dirty="0" err="1">
                <a:solidFill>
                  <a:schemeClr val="tx1"/>
                </a:solidFill>
              </a:rPr>
              <a:t>imageCLASS</a:t>
            </a:r>
            <a:r>
              <a:rPr lang="en-US" dirty="0">
                <a:solidFill>
                  <a:schemeClr val="tx1"/>
                </a:solidFill>
              </a:rPr>
              <a:t> 2200 Advanced Copier and other top-selling technology and office equipment items.</a:t>
            </a:r>
          </a:p>
          <a:p>
            <a:pPr marL="285750" indent="-285750">
              <a:buClr>
                <a:schemeClr val="tx1"/>
              </a:buClr>
              <a:buFont typeface="Arial" panose="020B0604020202020204" pitchFamily="34" charset="0"/>
              <a:buChar char="•"/>
            </a:pPr>
            <a:r>
              <a:rPr lang="en-US" dirty="0">
                <a:solidFill>
                  <a:schemeClr val="tx1"/>
                </a:solidFill>
              </a:rPr>
              <a:t>Leverage the dominance of Standard Class shipping by continuing to optimize its efficiency and customer experience, while exploring opportunities to increase adoption of other shipping options.</a:t>
            </a:r>
          </a:p>
        </p:txBody>
      </p:sp>
    </p:spTree>
    <p:extLst>
      <p:ext uri="{BB962C8B-B14F-4D97-AF65-F5344CB8AC3E}">
        <p14:creationId xmlns:p14="http://schemas.microsoft.com/office/powerpoint/2010/main" val="7094584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DD0C08-CA69-3F77-5A1F-20CB16464F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E5DC08-38D2-7C54-1061-3E5995927897}"/>
              </a:ext>
            </a:extLst>
          </p:cNvPr>
          <p:cNvSpPr>
            <a:spLocks noGrp="1"/>
          </p:cNvSpPr>
          <p:nvPr>
            <p:ph type="ctrTitle"/>
          </p:nvPr>
        </p:nvSpPr>
        <p:spPr>
          <a:xfrm>
            <a:off x="2589213" y="374903"/>
            <a:ext cx="8136699" cy="800103"/>
          </a:xfrm>
        </p:spPr>
        <p:txBody>
          <a:bodyPr>
            <a:normAutofit fontScale="90000"/>
          </a:bodyPr>
          <a:lstStyle/>
          <a:p>
            <a:r>
              <a:rPr lang="en-US" sz="4800" b="1" dirty="0">
                <a:solidFill>
                  <a:schemeClr val="tx1"/>
                </a:solidFill>
              </a:rPr>
              <a:t>Conclusion</a:t>
            </a:r>
          </a:p>
        </p:txBody>
      </p:sp>
      <p:sp>
        <p:nvSpPr>
          <p:cNvPr id="5" name="Subtitle 2">
            <a:extLst>
              <a:ext uri="{FF2B5EF4-FFF2-40B4-BE49-F238E27FC236}">
                <a16:creationId xmlns:a16="http://schemas.microsoft.com/office/drawing/2014/main" id="{2AED258B-E88A-CAF3-BBFD-A85DFD13A6AE}"/>
              </a:ext>
            </a:extLst>
          </p:cNvPr>
          <p:cNvSpPr txBox="1">
            <a:spLocks/>
          </p:cNvSpPr>
          <p:nvPr/>
        </p:nvSpPr>
        <p:spPr>
          <a:xfrm>
            <a:off x="2589212" y="1345691"/>
            <a:ext cx="8915399" cy="2670812"/>
          </a:xfrm>
          <a:prstGeom prst="rect">
            <a:avLst/>
          </a:prstGeom>
        </p:spPr>
        <p:txBody>
          <a:bodyPr vert="horz" lIns="91440" tIns="45720" rIns="91440" bIns="45720" rtlCol="0" anchor="t">
            <a:normAutofit/>
          </a:bodyPr>
          <a:lstStyle>
            <a:lvl1pPr marL="0" indent="0" algn="l" defTabSz="457200" rtl="0" eaLnBrk="1" latinLnBrk="0" hangingPunct="1">
              <a:spcBef>
                <a:spcPts val="1000"/>
              </a:spcBef>
              <a:spcAft>
                <a:spcPts val="0"/>
              </a:spcAft>
              <a:buClr>
                <a:schemeClr val="accent1"/>
              </a:buClr>
              <a:buFont typeface="Wingdings 3" charset="2"/>
              <a:buNone/>
              <a:defRPr sz="1800" kern="1200">
                <a:solidFill>
                  <a:schemeClr val="tx1">
                    <a:lumMod val="65000"/>
                    <a:lumOff val="35000"/>
                  </a:schemeClr>
                </a:solidFill>
                <a:latin typeface="+mn-lt"/>
                <a:ea typeface="+mn-ea"/>
                <a:cs typeface="+mn-cs"/>
              </a:defRPr>
            </a:lvl1pPr>
            <a:lvl2pPr marL="457200" indent="0" algn="ctr" defTabSz="457200" rtl="0" eaLnBrk="1" latinLnBrk="0" hangingPunct="1">
              <a:spcBef>
                <a:spcPts val="1000"/>
              </a:spcBef>
              <a:spcAft>
                <a:spcPts val="0"/>
              </a:spcAft>
              <a:buClr>
                <a:schemeClr val="accent1"/>
              </a:buClr>
              <a:buFont typeface="Wingdings 3"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ts val="1000"/>
              </a:spcBef>
              <a:spcAft>
                <a:spcPts val="0"/>
              </a:spcAft>
              <a:buClr>
                <a:schemeClr val="accent1"/>
              </a:buClr>
              <a:buFont typeface="Wingdings 3"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9pPr>
          </a:lstStyle>
          <a:p>
            <a:r>
              <a:rPr lang="en-US" sz="1600" dirty="0">
                <a:solidFill>
                  <a:schemeClr val="tx1"/>
                </a:solidFill>
              </a:rPr>
              <a:t>This analysis revealed key drivers of sales and profitability within the Superstore business. While the company generated strong revenue and maintained overall profitability, opportunities exist to improve performance by optimizing discount strategies, strengthening underperforming regions, and focusing on high-value products and customer segments. By leveraging insights from sales trends, regional performance, product profitability, and shipping operations, the business can make more informed decisions that support sustainable growth and improved profitability.</a:t>
            </a:r>
            <a:endParaRPr lang="en-US" sz="1600" b="1" dirty="0">
              <a:solidFill>
                <a:schemeClr val="tx1"/>
              </a:solidFill>
            </a:endParaRPr>
          </a:p>
        </p:txBody>
      </p:sp>
    </p:spTree>
    <p:extLst>
      <p:ext uri="{BB962C8B-B14F-4D97-AF65-F5344CB8AC3E}">
        <p14:creationId xmlns:p14="http://schemas.microsoft.com/office/powerpoint/2010/main" val="2789543121"/>
      </p:ext>
    </p:extLst>
  </p:cSld>
  <p:clrMapOvr>
    <a:masterClrMapping/>
  </p:clrMapOvr>
</p:sld>
</file>

<file path=ppt/theme/theme1.xml><?xml version="1.0" encoding="utf-8"?>
<a:theme xmlns:a="http://schemas.openxmlformats.org/drawingml/2006/main" name="Wisp">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260</TotalTime>
  <Words>633</Words>
  <Application>Microsoft Office PowerPoint</Application>
  <PresentationFormat>Widescreen</PresentationFormat>
  <Paragraphs>63</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Century Gothic</vt:lpstr>
      <vt:lpstr>Wingdings 3</vt:lpstr>
      <vt:lpstr>Wisp</vt:lpstr>
      <vt:lpstr>Superstore Sales and Profitability Analysis Dashboard</vt:lpstr>
      <vt:lpstr>Dataset Overview </vt:lpstr>
      <vt:lpstr>Business Problem </vt:lpstr>
      <vt:lpstr>Data Preparation &amp; KPIs</vt:lpstr>
      <vt:lpstr>Dashboard Overview</vt:lpstr>
      <vt:lpstr>Key Insights</vt:lpstr>
      <vt:lpstr>Recommendations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Aderonke Veronica Aderogba</dc:creator>
  <cp:lastModifiedBy>Aderonke Veronica Aderogba</cp:lastModifiedBy>
  <cp:revision>4</cp:revision>
  <dcterms:created xsi:type="dcterms:W3CDTF">2026-06-01T10:06:53Z</dcterms:created>
  <dcterms:modified xsi:type="dcterms:W3CDTF">2026-06-03T18:45:30Z</dcterms:modified>
</cp:coreProperties>
</file>